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92a6e62-9d2b-e3a2-4d5e-ac7efa1e5839}">
          <p14:sldIdLst>
            <p14:sldId id="256"/>
          </p14:sldIdLst>
        </p14:section>
        <p14:section name="Problem and Plan" id="{1a5ebce4-e139-fee5-79dd-7bcc8c93d3f7}">
          <p14:sldIdLst>
            <p14:sldId id="257"/>
            <p14:sldId id="258"/>
            <p14:sldId id="259"/>
            <p14:sldId id="260"/>
          </p14:sldIdLst>
        </p14:section>
        <p14:section name="Control and Governance" id="{73f45e05-383d-821f-ef0f-b57c87d75100}">
          <p14:sldIdLst>
            <p14:sldId id="261"/>
            <p14:sldId id="262"/>
            <p14:sldId id="263"/>
            <p14:sldId id="264"/>
          </p14:sldIdLst>
        </p14:section>
        <p14:section name="Delivery and Outlook" id="{5a204c64-1a6c-24d9-0fbf-a23e563d7664}">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as the Project Manager of the SwiftLog Logistics Analytics and AI Transformation Project. Explain that you coordinated five tracks: Data Analytics, Data Science, Machine Learning, GenAI, and QA. Say this talk covers how the project was planned, governed, and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two thirds of shipments arrive late, by about five days on average. Ibadan generates over a quarter of demand yet has no local hub, which we call the Ibadan Deficit. In addition, 1,626 shipments were attached to cancelled orders, a data integrity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scope were cleaning, dashboards, feature engineering, ML models, the GenAI assistant, and QA. Supplier scoring and warehouse capacity were excluded because the data lacks a supplier link and a capacity field. Both exclusions went through a formal change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breaks into seven packages, from initiation to closure. Cleaned data feeds the dashboards and the feature matrix, which feed the models and the GenAI assistant. The team was five interns, the PM plus four track leads, at 40 hours each during Week 5, about 200 project hours, with $0 tooling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executed in seven days during Week 5 of the internship. Data cleaning and dashboards ran first, then features and models, then RAG development and integration, then QA and reporting. Milestones M1 to M5 fell on days 2, 3, 5, 6 and 7, with the final submission on Sunday at 11:59 PM 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 map plots all ten risks by probability and impact. The Ibadan Deficit, cancelled shipments, and the supplier gap score nine, the highest. The Revenue Conflict between $19.1M gross and $14.44M confirmed is mitigated by standardising KPI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Sponsor approves scope changes, the PM runs daily execution, and four track leads own their deliverables. Issues escalate from lead to PM to Sponsor. Documents follow draft, PM review, then Sponsor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and the Sponsor have high power and high interest, so they get weekly executive summaries. Track leads have high interest but less formal power, so they get daily stand-ups. This keeps dependencies, such as DS features feeding ML, on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tracks are green, 24 of 24 tests pass, and schedule performance is 1.0 with zero percent variance. Spend was zero dollars. Remind the audience that $19.1M is gross revenue and $14.44M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sprints let the team react when the data gaps and the weak delay model appeared. The board shows completed work and the open follow-ups. Agile fits AI work because the real constraints emerge during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forecaster reached R² 0.9650 with a mean absolute error of $286.14. Revenue of $19.1M is gross list-price revenue across 4,600 orders. QA passed all 24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top five of ten recommendations. First, a feasibility study for an Ibadan hub, which serves 26.2% of demand. Second, fix the data foundations, then standardise revenue KPIs, realign the delay model, and deploy the GenAI tools with oversight. The full list of ten is in the PM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tracks delivered and passed QA. The key findings are the Ibadan Deficit, the delay rate, and the data gaps. The next steps are the hub study, a single KPI standard, and data governance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the four track leads, then invite questions. Replace the two placeholders with your GitHub and LinkedIn links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SwiftLog PM Report | AnalystLab Africa Week 5</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766560" y="822960"/>
            <a:ext cx="1371600" cy="1371600"/>
          </a:xfrm>
          <a:prstGeom prst="ellipse">
            <a:avLst/>
          </a:prstGeom>
          <a:solidFill>
            <a:schemeClr val="accent1"/>
          </a:solidFill>
          <a:ln w="12700">
            <a:solidFill>
              <a:schemeClr val="accent1"/>
            </a:solidFill>
            <a:prstDash val="solid"/>
          </a:ln>
        </p:spPr>
      </p:sp>
      <p:sp>
        <p:nvSpPr>
          <p:cNvPr id="3" name="Text 1"/>
          <p:cNvSpPr txBox="1"/>
          <p:nvPr/>
        </p:nvSpPr>
        <p:spPr>
          <a:xfrm>
            <a:off x="6766560" y="822960"/>
            <a:ext cx="1371600" cy="1371600"/>
          </a:xfrm>
          <a:prstGeom prst="rect">
            <a:avLst/>
          </a:prstGeom>
          <a:noFill/>
          <a:ln/>
        </p:spPr>
        <p:txBody>
          <a:bodyPr wrap="square" lIns="0" tIns="0" rIns="0" bIns="0" rtlCol="0" anchor="ctr"/>
          <a:lstStyle/>
          <a:p>
            <a:pPr algn="ctr" indent="0" marL="0">
              <a:buNone/>
            </a:pPr>
            <a:r>
              <a:rPr lang="en-US" sz="4400" b="1" dirty="0">
                <a:solidFill>
                  <a:schemeClr val="tx1"/>
                </a:solidFill>
                <a:latin typeface="Calibri" pitchFamily="34" charset="0"/>
                <a:ea typeface="Calibri" pitchFamily="34" charset="-122"/>
                <a:cs typeface="Calibri" pitchFamily="34" charset="-120"/>
              </a:rPr>
              <a:t>SL</a:t>
            </a:r>
            <a:endParaRPr lang="en-US" sz="4400" dirty="0"/>
          </a:p>
        </p:txBody>
      </p:sp>
      <p:sp>
        <p:nvSpPr>
          <p:cNvPr id="4" name="Text 2"/>
          <p:cNvSpPr txBox="1"/>
          <p:nvPr/>
        </p:nvSpPr>
        <p:spPr>
          <a:xfrm>
            <a:off x="548640" y="1280160"/>
            <a:ext cx="594360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SwiftLog Logistics Analytics &amp; AI Transformation</a:t>
            </a:r>
            <a:endParaRPr lang="en-US" sz="3600" dirty="0"/>
          </a:p>
        </p:txBody>
      </p:sp>
      <p:sp>
        <p:nvSpPr>
          <p:cNvPr id="5" name="Text 3"/>
          <p:cNvSpPr txBox="1"/>
          <p:nvPr/>
        </p:nvSpPr>
        <p:spPr>
          <a:xfrm>
            <a:off x="548640" y="3017520"/>
            <a:ext cx="7315200" cy="365760"/>
          </a:xfrm>
          <a:prstGeom prst="rect">
            <a:avLst/>
          </a:prstGeom>
          <a:noFill/>
          <a:ln/>
        </p:spPr>
        <p:txBody>
          <a:bodyPr wrap="square" lIns="0" tIns="0" rIns="0" bIns="0" rtlCol="0" anchor="ctr"/>
          <a:lstStyle/>
          <a:p>
            <a:pPr indent="0" marL="0">
              <a:buNone/>
            </a:pPr>
            <a:r>
              <a:rPr lang="en-US" sz="1800" dirty="0">
                <a:solidFill>
                  <a:schemeClr val="accent1"/>
                </a:solidFill>
              </a:rPr>
              <a:t>Project Management Capstone | AnalystLab Africa, Week 5</a:t>
            </a:r>
            <a:endParaRPr lang="en-US" sz="1800" dirty="0"/>
          </a:p>
        </p:txBody>
      </p:sp>
      <p:sp>
        <p:nvSpPr>
          <p:cNvPr id="6" name="Text 4"/>
          <p:cNvSpPr txBox="1"/>
          <p:nvPr/>
        </p:nvSpPr>
        <p:spPr>
          <a:xfrm>
            <a:off x="548640" y="3474720"/>
            <a:ext cx="7315200" cy="365760"/>
          </a:xfrm>
          <a:prstGeom prst="rect">
            <a:avLst/>
          </a:prstGeom>
          <a:noFill/>
          <a:ln/>
        </p:spPr>
        <p:txBody>
          <a:bodyPr wrap="square" lIns="0" tIns="0" rIns="0" bIns="0" rtlCol="0" anchor="ctr"/>
          <a:lstStyle/>
          <a:p>
            <a:pPr indent="0" marL="0">
              <a:buNone/>
            </a:pPr>
            <a:r>
              <a:rPr lang="en-US" sz="1600" dirty="0">
                <a:solidFill>
                  <a:schemeClr val="bg2"/>
                </a:solidFill>
              </a:rPr>
              <a:t>Presented by Lamiaa Samraoui, Project Manager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business problem</a:t>
            </a:r>
            <a:endParaRPr lang="en-US" sz="3200" dirty="0"/>
          </a:p>
        </p:txBody>
      </p:sp>
      <p:sp>
        <p:nvSpPr>
          <p:cNvPr id="3" name="Shape 1"/>
          <p:cNvSpPr/>
          <p:nvPr/>
        </p:nvSpPr>
        <p:spPr>
          <a:xfrm>
            <a:off x="457200" y="1371600"/>
            <a:ext cx="2606040" cy="2926080"/>
          </a:xfrm>
          <a:prstGeom prst="roundRect">
            <a:avLst>
              <a:gd name="adj" fmla="val 3509"/>
            </a:avLst>
          </a:prstGeom>
          <a:solidFill>
            <a:schemeClr val="bg2"/>
          </a:solidFill>
          <a:ln w="12700">
            <a:solidFill>
              <a:schemeClr val="bg2"/>
            </a:solidFill>
            <a:prstDash val="solid"/>
          </a:ln>
        </p:spPr>
      </p:sp>
      <p:sp>
        <p:nvSpPr>
          <p:cNvPr id="4" name="Shape 2"/>
          <p:cNvSpPr/>
          <p:nvPr/>
        </p:nvSpPr>
        <p:spPr>
          <a:xfrm>
            <a:off x="640080" y="1554480"/>
            <a:ext cx="548640" cy="548640"/>
          </a:xfrm>
          <a:prstGeom prst="ellipse">
            <a:avLst/>
          </a:prstGeom>
          <a:solidFill>
            <a:schemeClr val="accent3"/>
          </a:solidFill>
          <a:ln w="12700">
            <a:solidFill>
              <a:schemeClr val="accent3"/>
            </a:solidFill>
            <a:prstDash val="solid"/>
          </a:ln>
        </p:spPr>
      </p:sp>
      <p:sp>
        <p:nvSpPr>
          <p:cNvPr id="5" name="Text 3"/>
          <p:cNvSpPr txBox="1"/>
          <p:nvPr/>
        </p:nvSpPr>
        <p:spPr>
          <a:xfrm>
            <a:off x="640080" y="15544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a:t>
            </a:r>
            <a:endParaRPr lang="en-US" sz="2200" dirty="0"/>
          </a:p>
        </p:txBody>
      </p:sp>
      <p:sp>
        <p:nvSpPr>
          <p:cNvPr id="6" name="Text 4"/>
          <p:cNvSpPr txBox="1"/>
          <p:nvPr/>
        </p:nvSpPr>
        <p:spPr>
          <a:xfrm>
            <a:off x="640080" y="2240280"/>
            <a:ext cx="2286000" cy="82296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63.7%</a:t>
            </a:r>
            <a:endParaRPr lang="en-US" sz="4400" dirty="0"/>
          </a:p>
        </p:txBody>
      </p:sp>
      <p:sp>
        <p:nvSpPr>
          <p:cNvPr id="7" name="Text 5"/>
          <p:cNvSpPr txBox="1"/>
          <p:nvPr/>
        </p:nvSpPr>
        <p:spPr>
          <a:xfrm>
            <a:off x="640080" y="3108960"/>
            <a:ext cx="2286000" cy="1005840"/>
          </a:xfrm>
          <a:prstGeom prst="rect">
            <a:avLst/>
          </a:prstGeom>
          <a:noFill/>
          <a:ln/>
        </p:spPr>
        <p:txBody>
          <a:bodyPr wrap="square" lIns="0" tIns="0" rIns="0" bIns="0" rtlCol="0" anchor="t"/>
          <a:lstStyle/>
          <a:p>
            <a:pPr indent="0" marL="0">
              <a:buNone/>
            </a:pPr>
            <a:r>
              <a:rPr lang="en-US" sz="1500" dirty="0">
                <a:solidFill>
                  <a:schemeClr val="tx1"/>
                </a:solidFill>
              </a:rPr>
              <a:t>of shipments delayed, averaging 5.03 days</a:t>
            </a:r>
            <a:endParaRPr lang="en-US" sz="1500" dirty="0"/>
          </a:p>
        </p:txBody>
      </p:sp>
      <p:sp>
        <p:nvSpPr>
          <p:cNvPr id="8" name="Shape 6"/>
          <p:cNvSpPr/>
          <p:nvPr/>
        </p:nvSpPr>
        <p:spPr>
          <a:xfrm>
            <a:off x="3246120" y="1371600"/>
            <a:ext cx="2606040" cy="2926080"/>
          </a:xfrm>
          <a:prstGeom prst="roundRect">
            <a:avLst>
              <a:gd name="adj" fmla="val 3509"/>
            </a:avLst>
          </a:prstGeom>
          <a:solidFill>
            <a:schemeClr val="bg2"/>
          </a:solidFill>
          <a:ln w="12700">
            <a:solidFill>
              <a:schemeClr val="bg2"/>
            </a:solidFill>
            <a:prstDash val="solid"/>
          </a:ln>
        </p:spPr>
      </p:sp>
      <p:sp>
        <p:nvSpPr>
          <p:cNvPr id="9" name="Shape 7"/>
          <p:cNvSpPr/>
          <p:nvPr/>
        </p:nvSpPr>
        <p:spPr>
          <a:xfrm>
            <a:off x="3429000" y="155448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3429000" y="1554480"/>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Calibri" pitchFamily="34" charset="0"/>
                <a:ea typeface="Calibri" pitchFamily="34" charset="-122"/>
                <a:cs typeface="Calibri" pitchFamily="34" charset="-120"/>
              </a:rPr>
              <a:t>i</a:t>
            </a:r>
            <a:endParaRPr lang="en-US" sz="2200" dirty="0"/>
          </a:p>
        </p:txBody>
      </p:sp>
      <p:sp>
        <p:nvSpPr>
          <p:cNvPr id="11" name="Text 9"/>
          <p:cNvSpPr txBox="1"/>
          <p:nvPr/>
        </p:nvSpPr>
        <p:spPr>
          <a:xfrm>
            <a:off x="3429000" y="2240280"/>
            <a:ext cx="2286000" cy="82296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26.2%</a:t>
            </a:r>
            <a:endParaRPr lang="en-US" sz="4400" dirty="0"/>
          </a:p>
        </p:txBody>
      </p:sp>
      <p:sp>
        <p:nvSpPr>
          <p:cNvPr id="12" name="Text 10"/>
          <p:cNvSpPr txBox="1"/>
          <p:nvPr/>
        </p:nvSpPr>
        <p:spPr>
          <a:xfrm>
            <a:off x="3429000" y="3108960"/>
            <a:ext cx="2286000" cy="1005840"/>
          </a:xfrm>
          <a:prstGeom prst="rect">
            <a:avLst/>
          </a:prstGeom>
          <a:noFill/>
          <a:ln/>
        </p:spPr>
        <p:txBody>
          <a:bodyPr wrap="square" lIns="0" tIns="0" rIns="0" bIns="0" rtlCol="0" anchor="t"/>
          <a:lstStyle/>
          <a:p>
            <a:pPr indent="0" marL="0">
              <a:buNone/>
            </a:pPr>
            <a:r>
              <a:rPr lang="en-US" sz="1500" dirty="0">
                <a:solidFill>
                  <a:schemeClr val="tx1"/>
                </a:solidFill>
              </a:rPr>
              <a:t>of demand from Ibadan, with 0 local hubs</a:t>
            </a:r>
            <a:endParaRPr lang="en-US" sz="1500" dirty="0"/>
          </a:p>
        </p:txBody>
      </p:sp>
      <p:sp>
        <p:nvSpPr>
          <p:cNvPr id="13" name="Shape 11"/>
          <p:cNvSpPr/>
          <p:nvPr/>
        </p:nvSpPr>
        <p:spPr>
          <a:xfrm>
            <a:off x="6035040" y="1371600"/>
            <a:ext cx="2606040" cy="2926080"/>
          </a:xfrm>
          <a:prstGeom prst="roundRect">
            <a:avLst>
              <a:gd name="adj" fmla="val 3509"/>
            </a:avLst>
          </a:prstGeom>
          <a:solidFill>
            <a:schemeClr val="bg2"/>
          </a:solidFill>
          <a:ln w="12700">
            <a:solidFill>
              <a:schemeClr val="bg2"/>
            </a:solidFill>
            <a:prstDash val="solid"/>
          </a:ln>
        </p:spPr>
      </p:sp>
      <p:sp>
        <p:nvSpPr>
          <p:cNvPr id="14" name="Shape 12"/>
          <p:cNvSpPr/>
          <p:nvPr/>
        </p:nvSpPr>
        <p:spPr>
          <a:xfrm>
            <a:off x="6217920" y="1554480"/>
            <a:ext cx="548640" cy="548640"/>
          </a:xfrm>
          <a:prstGeom prst="ellipse">
            <a:avLst/>
          </a:prstGeom>
          <a:solidFill>
            <a:schemeClr val="accent3"/>
          </a:solidFill>
          <a:ln w="12700">
            <a:solidFill>
              <a:schemeClr val="accent3"/>
            </a:solidFill>
            <a:prstDash val="solid"/>
          </a:ln>
        </p:spPr>
      </p:sp>
      <p:sp>
        <p:nvSpPr>
          <p:cNvPr id="15" name="Text 13"/>
          <p:cNvSpPr txBox="1"/>
          <p:nvPr/>
        </p:nvSpPr>
        <p:spPr>
          <a:xfrm>
            <a:off x="6217920" y="15544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6217920" y="2240280"/>
            <a:ext cx="2286000" cy="82296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1,626</a:t>
            </a:r>
            <a:endParaRPr lang="en-US" sz="4400" dirty="0"/>
          </a:p>
        </p:txBody>
      </p:sp>
      <p:sp>
        <p:nvSpPr>
          <p:cNvPr id="17" name="Text 15"/>
          <p:cNvSpPr txBox="1"/>
          <p:nvPr/>
        </p:nvSpPr>
        <p:spPr>
          <a:xfrm>
            <a:off x="6217920" y="3108960"/>
            <a:ext cx="2286000" cy="1005840"/>
          </a:xfrm>
          <a:prstGeom prst="rect">
            <a:avLst/>
          </a:prstGeom>
          <a:noFill/>
          <a:ln/>
        </p:spPr>
        <p:txBody>
          <a:bodyPr wrap="square" lIns="0" tIns="0" rIns="0" bIns="0" rtlCol="0" anchor="t"/>
          <a:lstStyle/>
          <a:p>
            <a:pPr indent="0" marL="0">
              <a:buNone/>
            </a:pPr>
            <a:r>
              <a:rPr lang="en-US" sz="1500" dirty="0">
                <a:solidFill>
                  <a:schemeClr val="tx1"/>
                </a:solidFill>
              </a:rPr>
              <a:t>shipments attached to cancelled orders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Objectives and scope</a:t>
            </a:r>
            <a:endParaRPr lang="en-US" sz="3200" dirty="0"/>
          </a:p>
        </p:txBody>
      </p:sp>
      <p:sp>
        <p:nvSpPr>
          <p:cNvPr id="3" name="Shape 1"/>
          <p:cNvSpPr/>
          <p:nvPr/>
        </p:nvSpPr>
        <p:spPr>
          <a:xfrm>
            <a:off x="457200" y="1280160"/>
            <a:ext cx="4023360" cy="3108960"/>
          </a:xfrm>
          <a:prstGeom prst="roundRect">
            <a:avLst>
              <a:gd name="adj" fmla="val 2941"/>
            </a:avLst>
          </a:prstGeom>
          <a:solidFill>
            <a:schemeClr val="bg2"/>
          </a:solidFill>
          <a:ln w="12700">
            <a:solidFill>
              <a:schemeClr val="bg2"/>
            </a:solidFill>
            <a:prstDash val="solid"/>
          </a:ln>
        </p:spPr>
      </p:sp>
      <p:sp>
        <p:nvSpPr>
          <p:cNvPr id="4" name="Shape 2"/>
          <p:cNvSpPr/>
          <p:nvPr/>
        </p:nvSpPr>
        <p:spPr>
          <a:xfrm>
            <a:off x="4663440" y="1280160"/>
            <a:ext cx="4023360" cy="3108960"/>
          </a:xfrm>
          <a:prstGeom prst="roundRect">
            <a:avLst>
              <a:gd name="adj" fmla="val 2941"/>
            </a:avLst>
          </a:prstGeom>
          <a:solidFill>
            <a:schemeClr val="bg2"/>
          </a:solidFill>
          <a:ln w="12700">
            <a:solidFill>
              <a:schemeClr val="bg2"/>
            </a:solidFill>
            <a:prstDash val="solid"/>
          </a:ln>
        </p:spPr>
      </p:sp>
      <p:sp>
        <p:nvSpPr>
          <p:cNvPr id="5" name="Shape 3"/>
          <p:cNvSpPr/>
          <p:nvPr/>
        </p:nvSpPr>
        <p:spPr>
          <a:xfrm>
            <a:off x="640080" y="1417320"/>
            <a:ext cx="457200" cy="457200"/>
          </a:xfrm>
          <a:prstGeom prst="ellipse">
            <a:avLst/>
          </a:prstGeom>
          <a:solidFill>
            <a:schemeClr val="accent4"/>
          </a:solidFill>
          <a:ln w="12700">
            <a:solidFill>
              <a:schemeClr val="accent4"/>
            </a:solidFill>
            <a:prstDash val="solid"/>
          </a:ln>
        </p:spPr>
      </p:sp>
      <p:sp>
        <p:nvSpPr>
          <p:cNvPr id="6" name="Text 4"/>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4846320" y="1417320"/>
            <a:ext cx="457200" cy="457200"/>
          </a:xfrm>
          <a:prstGeom prst="ellipse">
            <a:avLst/>
          </a:prstGeom>
          <a:solidFill>
            <a:schemeClr val="accent3"/>
          </a:solidFill>
          <a:ln w="12700">
            <a:solidFill>
              <a:schemeClr val="accent3"/>
            </a:solidFill>
            <a:prstDash val="solid"/>
          </a:ln>
        </p:spPr>
      </p:sp>
      <p:sp>
        <p:nvSpPr>
          <p:cNvPr id="8" name="Text 6"/>
          <p:cNvSpPr txBox="1"/>
          <p:nvPr/>
        </p:nvSpPr>
        <p:spPr>
          <a:xfrm>
            <a:off x="4846320" y="1417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9" name="Text 7"/>
          <p:cNvSpPr txBox="1"/>
          <p:nvPr/>
        </p:nvSpPr>
        <p:spPr>
          <a:xfrm>
            <a:off x="1234440" y="141732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In scope</a:t>
            </a:r>
            <a:endParaRPr lang="en-US" sz="2000" dirty="0"/>
          </a:p>
        </p:txBody>
      </p:sp>
      <p:sp>
        <p:nvSpPr>
          <p:cNvPr id="10" name="Text 8"/>
          <p:cNvSpPr txBox="1"/>
          <p:nvPr/>
        </p:nvSpPr>
        <p:spPr>
          <a:xfrm>
            <a:off x="5440680" y="141732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Out of scope</a:t>
            </a:r>
            <a:endParaRPr lang="en-US" sz="2000" dirty="0"/>
          </a:p>
        </p:txBody>
      </p:sp>
      <p:sp>
        <p:nvSpPr>
          <p:cNvPr id="11" name="Text 9"/>
          <p:cNvSpPr txBox="1"/>
          <p:nvPr/>
        </p:nvSpPr>
        <p:spPr>
          <a:xfrm>
            <a:off x="640080" y="2103120"/>
            <a:ext cx="365760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Data cleaning and dashboards</a:t>
            </a:r>
            <a:endParaRPr lang="en-US" sz="1600" dirty="0"/>
          </a:p>
          <a:p>
            <a:pPr marL="342900" indent="-342900">
              <a:spcAft>
                <a:spcPts val="800"/>
              </a:spcAft>
              <a:buSzPct val="100000"/>
              <a:buChar char="•"/>
            </a:pPr>
            <a:r>
              <a:rPr lang="en-US" sz="1600" dirty="0">
                <a:solidFill>
                  <a:schemeClr val="tx1"/>
                </a:solidFill>
              </a:rPr>
              <a:t>Feature engineering and ML models</a:t>
            </a:r>
            <a:endParaRPr lang="en-US" sz="1600" dirty="0"/>
          </a:p>
          <a:p>
            <a:pPr marL="342900" indent="-342900">
              <a:spcAft>
                <a:spcPts val="800"/>
              </a:spcAft>
              <a:buSzPct val="100000"/>
              <a:buChar char="•"/>
            </a:pPr>
            <a:r>
              <a:rPr lang="en-US" sz="1600" dirty="0">
                <a:solidFill>
                  <a:schemeClr val="tx1"/>
                </a:solidFill>
              </a:rPr>
              <a:t>GenAI assistant and QA testing</a:t>
            </a:r>
            <a:endParaRPr lang="en-US" sz="1600" dirty="0"/>
          </a:p>
        </p:txBody>
      </p:sp>
      <p:sp>
        <p:nvSpPr>
          <p:cNvPr id="12" name="Text 10"/>
          <p:cNvSpPr txBox="1"/>
          <p:nvPr/>
        </p:nvSpPr>
        <p:spPr>
          <a:xfrm>
            <a:off x="4846320" y="2103120"/>
            <a:ext cx="365760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Supplier performance scoring</a:t>
            </a:r>
            <a:endParaRPr lang="en-US" sz="1600" dirty="0"/>
          </a:p>
          <a:p>
            <a:pPr marL="342900" indent="-342900">
              <a:spcAft>
                <a:spcPts val="800"/>
              </a:spcAft>
              <a:buSzPct val="100000"/>
              <a:buChar char="•"/>
            </a:pPr>
            <a:r>
              <a:rPr lang="en-US" sz="1600" dirty="0">
                <a:solidFill>
                  <a:schemeClr val="tx1"/>
                </a:solidFill>
              </a:rPr>
              <a:t>Warehouse capacity utilisation</a:t>
            </a:r>
            <a:endParaRPr lang="en-US" sz="1600" dirty="0"/>
          </a:p>
        </p:txBody>
      </p:sp>
      <p:sp>
        <p:nvSpPr>
          <p:cNvPr id="13" name="Text 11"/>
          <p:cNvSpPr txBox="1"/>
          <p:nvPr/>
        </p:nvSpPr>
        <p:spPr>
          <a:xfrm>
            <a:off x="4846320" y="3520440"/>
            <a:ext cx="3657600" cy="640080"/>
          </a:xfrm>
          <a:prstGeom prst="rect">
            <a:avLst/>
          </a:prstGeom>
          <a:noFill/>
          <a:ln/>
        </p:spPr>
        <p:txBody>
          <a:bodyPr wrap="square" lIns="0" tIns="0" rIns="0" bIns="0" rtlCol="0" anchor="t"/>
          <a:lstStyle/>
          <a:p>
            <a:pPr indent="0" marL="0">
              <a:buNone/>
            </a:pPr>
            <a:r>
              <a:rPr lang="en-US" sz="1300" i="1" dirty="0">
                <a:solidFill>
                  <a:schemeClr val="accent6"/>
                </a:solidFill>
              </a:rPr>
              <a:t>Both exclusions formally logged via change request.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Project plan overview: WBS</a:t>
            </a:r>
            <a:endParaRPr lang="en-US" sz="3200" dirty="0"/>
          </a:p>
        </p:txBody>
      </p:sp>
      <p:sp>
        <p:nvSpPr>
          <p:cNvPr id="3" name="Shape 1"/>
          <p:cNvSpPr/>
          <p:nvPr/>
        </p:nvSpPr>
        <p:spPr>
          <a:xfrm>
            <a:off x="457200" y="1188720"/>
            <a:ext cx="1097280" cy="1508760"/>
          </a:xfrm>
          <a:prstGeom prst="roundRect">
            <a:avLst>
              <a:gd name="adj" fmla="val 8333"/>
            </a:avLst>
          </a:prstGeom>
          <a:solidFill>
            <a:schemeClr val="bg2"/>
          </a:solidFill>
          <a:ln w="12700">
            <a:solidFill>
              <a:schemeClr val="bg2"/>
            </a:solidFill>
            <a:prstDash val="solid"/>
          </a:ln>
        </p:spPr>
      </p:sp>
      <p:sp>
        <p:nvSpPr>
          <p:cNvPr id="4" name="Shape 2"/>
          <p:cNvSpPr/>
          <p:nvPr/>
        </p:nvSpPr>
        <p:spPr>
          <a:xfrm>
            <a:off x="777240" y="128016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2801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1.0</a:t>
            </a:r>
            <a:endParaRPr lang="en-US" sz="1200" dirty="0"/>
          </a:p>
        </p:txBody>
      </p:sp>
      <p:sp>
        <p:nvSpPr>
          <p:cNvPr id="6" name="Text 4"/>
          <p:cNvSpPr txBox="1"/>
          <p:nvPr/>
        </p:nvSpPr>
        <p:spPr>
          <a:xfrm>
            <a:off x="502920" y="182880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Initiation &amp; Governance</a:t>
            </a:r>
            <a:endParaRPr lang="en-US" sz="1400" dirty="0"/>
          </a:p>
        </p:txBody>
      </p:sp>
      <p:sp>
        <p:nvSpPr>
          <p:cNvPr id="7" name="Shape 5"/>
          <p:cNvSpPr/>
          <p:nvPr/>
        </p:nvSpPr>
        <p:spPr>
          <a:xfrm>
            <a:off x="1645920" y="1188720"/>
            <a:ext cx="1097280" cy="1508760"/>
          </a:xfrm>
          <a:prstGeom prst="roundRect">
            <a:avLst>
              <a:gd name="adj" fmla="val 8333"/>
            </a:avLst>
          </a:prstGeom>
          <a:solidFill>
            <a:schemeClr val="bg2"/>
          </a:solidFill>
          <a:ln w="12700">
            <a:solidFill>
              <a:schemeClr val="bg2"/>
            </a:solidFill>
            <a:prstDash val="solid"/>
          </a:ln>
        </p:spPr>
      </p:sp>
      <p:sp>
        <p:nvSpPr>
          <p:cNvPr id="8" name="Shape 6"/>
          <p:cNvSpPr/>
          <p:nvPr/>
        </p:nvSpPr>
        <p:spPr>
          <a:xfrm>
            <a:off x="1965960" y="128016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1965960" y="12801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2.0</a:t>
            </a:r>
            <a:endParaRPr lang="en-US" sz="1200" dirty="0"/>
          </a:p>
        </p:txBody>
      </p:sp>
      <p:sp>
        <p:nvSpPr>
          <p:cNvPr id="10" name="Text 8"/>
          <p:cNvSpPr txBox="1"/>
          <p:nvPr/>
        </p:nvSpPr>
        <p:spPr>
          <a:xfrm>
            <a:off x="1691640" y="182880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Data Preparation</a:t>
            </a:r>
            <a:endParaRPr lang="en-US" sz="1400" dirty="0"/>
          </a:p>
        </p:txBody>
      </p:sp>
      <p:sp>
        <p:nvSpPr>
          <p:cNvPr id="11" name="Shape 9"/>
          <p:cNvSpPr/>
          <p:nvPr/>
        </p:nvSpPr>
        <p:spPr>
          <a:xfrm>
            <a:off x="2834640" y="1188720"/>
            <a:ext cx="1097280" cy="1508760"/>
          </a:xfrm>
          <a:prstGeom prst="roundRect">
            <a:avLst>
              <a:gd name="adj" fmla="val 8333"/>
            </a:avLst>
          </a:prstGeom>
          <a:solidFill>
            <a:schemeClr val="bg2"/>
          </a:solidFill>
          <a:ln w="12700">
            <a:solidFill>
              <a:schemeClr val="bg2"/>
            </a:solidFill>
            <a:prstDash val="solid"/>
          </a:ln>
        </p:spPr>
      </p:sp>
      <p:sp>
        <p:nvSpPr>
          <p:cNvPr id="12" name="Shape 10"/>
          <p:cNvSpPr/>
          <p:nvPr/>
        </p:nvSpPr>
        <p:spPr>
          <a:xfrm>
            <a:off x="3154680" y="128016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3154680" y="12801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3.0</a:t>
            </a:r>
            <a:endParaRPr lang="en-US" sz="1200" dirty="0"/>
          </a:p>
        </p:txBody>
      </p:sp>
      <p:sp>
        <p:nvSpPr>
          <p:cNvPr id="14" name="Text 12"/>
          <p:cNvSpPr txBox="1"/>
          <p:nvPr/>
        </p:nvSpPr>
        <p:spPr>
          <a:xfrm>
            <a:off x="2880360" y="182880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Data Analytics</a:t>
            </a:r>
            <a:endParaRPr lang="en-US" sz="1400" dirty="0"/>
          </a:p>
        </p:txBody>
      </p:sp>
      <p:sp>
        <p:nvSpPr>
          <p:cNvPr id="15" name="Shape 13"/>
          <p:cNvSpPr/>
          <p:nvPr/>
        </p:nvSpPr>
        <p:spPr>
          <a:xfrm>
            <a:off x="4023360" y="1188720"/>
            <a:ext cx="1097280" cy="1508760"/>
          </a:xfrm>
          <a:prstGeom prst="roundRect">
            <a:avLst>
              <a:gd name="adj" fmla="val 8333"/>
            </a:avLst>
          </a:prstGeom>
          <a:solidFill>
            <a:schemeClr val="bg2"/>
          </a:solidFill>
          <a:ln w="12700">
            <a:solidFill>
              <a:schemeClr val="bg2"/>
            </a:solidFill>
            <a:prstDash val="solid"/>
          </a:ln>
        </p:spPr>
      </p:sp>
      <p:sp>
        <p:nvSpPr>
          <p:cNvPr id="16" name="Shape 14"/>
          <p:cNvSpPr/>
          <p:nvPr/>
        </p:nvSpPr>
        <p:spPr>
          <a:xfrm>
            <a:off x="4343400" y="128016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4343400" y="12801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4.0</a:t>
            </a:r>
            <a:endParaRPr lang="en-US" sz="1200" dirty="0"/>
          </a:p>
        </p:txBody>
      </p:sp>
      <p:sp>
        <p:nvSpPr>
          <p:cNvPr id="18" name="Text 16"/>
          <p:cNvSpPr txBox="1"/>
          <p:nvPr/>
        </p:nvSpPr>
        <p:spPr>
          <a:xfrm>
            <a:off x="4069080" y="182880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Data Science &amp; ML</a:t>
            </a:r>
            <a:endParaRPr lang="en-US" sz="1400" dirty="0"/>
          </a:p>
        </p:txBody>
      </p:sp>
      <p:sp>
        <p:nvSpPr>
          <p:cNvPr id="19" name="Shape 17"/>
          <p:cNvSpPr/>
          <p:nvPr/>
        </p:nvSpPr>
        <p:spPr>
          <a:xfrm>
            <a:off x="5212080" y="1188720"/>
            <a:ext cx="1097280" cy="1508760"/>
          </a:xfrm>
          <a:prstGeom prst="roundRect">
            <a:avLst>
              <a:gd name="adj" fmla="val 8333"/>
            </a:avLst>
          </a:prstGeom>
          <a:solidFill>
            <a:schemeClr val="bg2"/>
          </a:solidFill>
          <a:ln w="12700">
            <a:solidFill>
              <a:schemeClr val="bg2"/>
            </a:solidFill>
            <a:prstDash val="solid"/>
          </a:ln>
        </p:spPr>
      </p:sp>
      <p:sp>
        <p:nvSpPr>
          <p:cNvPr id="20" name="Shape 18"/>
          <p:cNvSpPr/>
          <p:nvPr/>
        </p:nvSpPr>
        <p:spPr>
          <a:xfrm>
            <a:off x="5532120" y="1280160"/>
            <a:ext cx="457200" cy="457200"/>
          </a:xfrm>
          <a:prstGeom prst="ellipse">
            <a:avLst/>
          </a:prstGeom>
          <a:solidFill>
            <a:schemeClr val="accent2"/>
          </a:solidFill>
          <a:ln w="12700">
            <a:solidFill>
              <a:schemeClr val="accent2"/>
            </a:solidFill>
            <a:prstDash val="solid"/>
          </a:ln>
        </p:spPr>
      </p:sp>
      <p:sp>
        <p:nvSpPr>
          <p:cNvPr id="21" name="Text 19"/>
          <p:cNvSpPr txBox="1"/>
          <p:nvPr/>
        </p:nvSpPr>
        <p:spPr>
          <a:xfrm>
            <a:off x="5532120" y="12801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5.0</a:t>
            </a:r>
            <a:endParaRPr lang="en-US" sz="1200" dirty="0"/>
          </a:p>
        </p:txBody>
      </p:sp>
      <p:sp>
        <p:nvSpPr>
          <p:cNvPr id="22" name="Text 20"/>
          <p:cNvSpPr txBox="1"/>
          <p:nvPr/>
        </p:nvSpPr>
        <p:spPr>
          <a:xfrm>
            <a:off x="5257800" y="182880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Generative AI</a:t>
            </a:r>
            <a:endParaRPr lang="en-US" sz="1400" dirty="0"/>
          </a:p>
        </p:txBody>
      </p:sp>
      <p:sp>
        <p:nvSpPr>
          <p:cNvPr id="23" name="Shape 21"/>
          <p:cNvSpPr/>
          <p:nvPr/>
        </p:nvSpPr>
        <p:spPr>
          <a:xfrm>
            <a:off x="6400800" y="1188720"/>
            <a:ext cx="1097280" cy="1508760"/>
          </a:xfrm>
          <a:prstGeom prst="roundRect">
            <a:avLst>
              <a:gd name="adj" fmla="val 8333"/>
            </a:avLst>
          </a:prstGeom>
          <a:solidFill>
            <a:schemeClr val="bg2"/>
          </a:solidFill>
          <a:ln w="12700">
            <a:solidFill>
              <a:schemeClr val="bg2"/>
            </a:solidFill>
            <a:prstDash val="solid"/>
          </a:ln>
        </p:spPr>
      </p:sp>
      <p:sp>
        <p:nvSpPr>
          <p:cNvPr id="24" name="Shape 22"/>
          <p:cNvSpPr/>
          <p:nvPr/>
        </p:nvSpPr>
        <p:spPr>
          <a:xfrm>
            <a:off x="6720840" y="1280160"/>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6720840" y="12801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6.0</a:t>
            </a:r>
            <a:endParaRPr lang="en-US" sz="1200" dirty="0"/>
          </a:p>
        </p:txBody>
      </p:sp>
      <p:sp>
        <p:nvSpPr>
          <p:cNvPr id="26" name="Text 24"/>
          <p:cNvSpPr txBox="1"/>
          <p:nvPr/>
        </p:nvSpPr>
        <p:spPr>
          <a:xfrm>
            <a:off x="6446520" y="182880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QA &amp; Testing</a:t>
            </a:r>
            <a:endParaRPr lang="en-US" sz="1400" dirty="0"/>
          </a:p>
        </p:txBody>
      </p:sp>
      <p:sp>
        <p:nvSpPr>
          <p:cNvPr id="27" name="Shape 25"/>
          <p:cNvSpPr/>
          <p:nvPr/>
        </p:nvSpPr>
        <p:spPr>
          <a:xfrm>
            <a:off x="7589520" y="1188720"/>
            <a:ext cx="1097280" cy="1508760"/>
          </a:xfrm>
          <a:prstGeom prst="roundRect">
            <a:avLst>
              <a:gd name="adj" fmla="val 8333"/>
            </a:avLst>
          </a:prstGeom>
          <a:solidFill>
            <a:schemeClr val="bg2"/>
          </a:solidFill>
          <a:ln w="12700">
            <a:solidFill>
              <a:schemeClr val="bg2"/>
            </a:solidFill>
            <a:prstDash val="solid"/>
          </a:ln>
        </p:spPr>
      </p:sp>
      <p:sp>
        <p:nvSpPr>
          <p:cNvPr id="28" name="Shape 26"/>
          <p:cNvSpPr/>
          <p:nvPr/>
        </p:nvSpPr>
        <p:spPr>
          <a:xfrm>
            <a:off x="7909560" y="1280160"/>
            <a:ext cx="457200" cy="457200"/>
          </a:xfrm>
          <a:prstGeom prst="ellipse">
            <a:avLst/>
          </a:prstGeom>
          <a:solidFill>
            <a:schemeClr val="accent2"/>
          </a:solidFill>
          <a:ln w="12700">
            <a:solidFill>
              <a:schemeClr val="accent2"/>
            </a:solidFill>
            <a:prstDash val="solid"/>
          </a:ln>
        </p:spPr>
      </p:sp>
      <p:sp>
        <p:nvSpPr>
          <p:cNvPr id="29" name="Text 27"/>
          <p:cNvSpPr txBox="1"/>
          <p:nvPr/>
        </p:nvSpPr>
        <p:spPr>
          <a:xfrm>
            <a:off x="7909560" y="12801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7.0</a:t>
            </a:r>
            <a:endParaRPr lang="en-US" sz="1200" dirty="0"/>
          </a:p>
        </p:txBody>
      </p:sp>
      <p:sp>
        <p:nvSpPr>
          <p:cNvPr id="30" name="Text 28"/>
          <p:cNvSpPr txBox="1"/>
          <p:nvPr/>
        </p:nvSpPr>
        <p:spPr>
          <a:xfrm>
            <a:off x="7635240" y="182880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Project Closure</a:t>
            </a:r>
            <a:endParaRPr lang="en-US" sz="1400" dirty="0"/>
          </a:p>
        </p:txBody>
      </p:sp>
      <p:sp>
        <p:nvSpPr>
          <p:cNvPr id="31" name="Shape 29"/>
          <p:cNvSpPr/>
          <p:nvPr/>
        </p:nvSpPr>
        <p:spPr>
          <a:xfrm>
            <a:off x="457200" y="2880360"/>
            <a:ext cx="8229600" cy="1691640"/>
          </a:xfrm>
          <a:prstGeom prst="roundRect">
            <a:avLst>
              <a:gd name="adj" fmla="val 5405"/>
            </a:avLst>
          </a:prstGeom>
          <a:solidFill>
            <a:schemeClr val="bg2"/>
          </a:solidFill>
          <a:ln w="12700">
            <a:solidFill>
              <a:schemeClr val="bg2"/>
            </a:solidFill>
            <a:prstDash val="solid"/>
          </a:ln>
        </p:spPr>
      </p:sp>
      <p:sp>
        <p:nvSpPr>
          <p:cNvPr id="32" name="Text 30"/>
          <p:cNvSpPr txBox="1"/>
          <p:nvPr/>
        </p:nvSpPr>
        <p:spPr>
          <a:xfrm>
            <a:off x="685800" y="2971800"/>
            <a:ext cx="77724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Team &amp; Resources</a:t>
            </a:r>
            <a:endParaRPr lang="en-US" sz="1800" dirty="0"/>
          </a:p>
        </p:txBody>
      </p:sp>
      <p:sp>
        <p:nvSpPr>
          <p:cNvPr id="33" name="Text 31"/>
          <p:cNvSpPr txBox="1"/>
          <p:nvPr/>
        </p:nvSpPr>
        <p:spPr>
          <a:xfrm>
            <a:off x="685800" y="3429000"/>
            <a:ext cx="7772400" cy="1051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5 Interns (PM + 4 Track Leads)</a:t>
            </a:r>
            <a:endParaRPr lang="en-US" sz="1600" dirty="0"/>
          </a:p>
          <a:p>
            <a:pPr marL="342900" indent="-342900">
              <a:spcAft>
                <a:spcPts val="800"/>
              </a:spcAft>
              <a:buSzPct val="100000"/>
              <a:buChar char="•"/>
            </a:pPr>
            <a:r>
              <a:rPr lang="en-US" sz="1600" dirty="0">
                <a:solidFill>
                  <a:schemeClr val="tx1"/>
                </a:solidFill>
              </a:rPr>
              <a:t>40 hours per intern during Week 5 (200 total project hours)</a:t>
            </a:r>
            <a:endParaRPr lang="en-US" sz="1600" dirty="0"/>
          </a:p>
          <a:p>
            <a:pPr marL="342900" indent="-342900">
              <a:spcAft>
                <a:spcPts val="800"/>
              </a:spcAft>
              <a:buSzPct val="100000"/>
              <a:buChar char="•"/>
            </a:pPr>
            <a:r>
              <a:rPr lang="en-US" sz="1600" dirty="0">
                <a:solidFill>
                  <a:schemeClr val="tx1"/>
                </a:solidFill>
              </a:rPr>
              <a:t>$0 tooling cost (Open-source: Python, Power BI, FastAPI)</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7-Day Execution Timeline (Week 5)</a:t>
            </a:r>
            <a:endParaRPr lang="en-US" sz="3200" dirty="0"/>
          </a:p>
        </p:txBody>
      </p:sp>
      <p:sp>
        <p:nvSpPr>
          <p:cNvPr id="3" name="Shape 1"/>
          <p:cNvSpPr/>
          <p:nvPr/>
        </p:nvSpPr>
        <p:spPr>
          <a:xfrm>
            <a:off x="2651760" y="1371600"/>
            <a:ext cx="822960" cy="1783080"/>
          </a:xfrm>
          <a:prstGeom prst="rect">
            <a:avLst/>
          </a:prstGeom>
          <a:solidFill>
            <a:schemeClr val="bg2"/>
          </a:solidFill>
          <a:ln w="12700">
            <a:solidFill>
              <a:schemeClr val="bg2"/>
            </a:solidFill>
            <a:prstDash val="solid"/>
          </a:ln>
        </p:spPr>
      </p:sp>
      <p:sp>
        <p:nvSpPr>
          <p:cNvPr id="4" name="Text 2"/>
          <p:cNvSpPr txBox="1"/>
          <p:nvPr/>
        </p:nvSpPr>
        <p:spPr>
          <a:xfrm>
            <a:off x="2651760" y="1051560"/>
            <a:ext cx="822960" cy="274320"/>
          </a:xfrm>
          <a:prstGeom prst="rect">
            <a:avLst/>
          </a:prstGeom>
          <a:noFill/>
          <a:ln/>
        </p:spPr>
        <p:txBody>
          <a:bodyPr wrap="square" lIns="0" tIns="0" rIns="0" bIns="0" rtlCol="0" anchor="ctr"/>
          <a:lstStyle/>
          <a:p>
            <a:pPr algn="ctr" indent="0" marL="0">
              <a:buNone/>
            </a:pPr>
            <a:r>
              <a:rPr lang="en-US" sz="1200" b="1" dirty="0">
                <a:solidFill>
                  <a:schemeClr val="tx2"/>
                </a:solidFill>
              </a:rPr>
              <a:t>Day 1</a:t>
            </a:r>
            <a:endParaRPr lang="en-US" sz="1200" dirty="0"/>
          </a:p>
        </p:txBody>
      </p:sp>
      <p:sp>
        <p:nvSpPr>
          <p:cNvPr id="5" name="Text 3"/>
          <p:cNvSpPr txBox="1"/>
          <p:nvPr/>
        </p:nvSpPr>
        <p:spPr>
          <a:xfrm>
            <a:off x="3474720" y="1051560"/>
            <a:ext cx="822960" cy="274320"/>
          </a:xfrm>
          <a:prstGeom prst="rect">
            <a:avLst/>
          </a:prstGeom>
          <a:noFill/>
          <a:ln/>
        </p:spPr>
        <p:txBody>
          <a:bodyPr wrap="square" lIns="0" tIns="0" rIns="0" bIns="0" rtlCol="0" anchor="ctr"/>
          <a:lstStyle/>
          <a:p>
            <a:pPr algn="ctr" indent="0" marL="0">
              <a:buNone/>
            </a:pPr>
            <a:r>
              <a:rPr lang="en-US" sz="1200" b="1" dirty="0">
                <a:solidFill>
                  <a:schemeClr val="tx2"/>
                </a:solidFill>
              </a:rPr>
              <a:t>Day 2</a:t>
            </a:r>
            <a:endParaRPr lang="en-US" sz="1200" dirty="0"/>
          </a:p>
        </p:txBody>
      </p:sp>
      <p:sp>
        <p:nvSpPr>
          <p:cNvPr id="6" name="Shape 4"/>
          <p:cNvSpPr/>
          <p:nvPr/>
        </p:nvSpPr>
        <p:spPr>
          <a:xfrm>
            <a:off x="4297680" y="1371600"/>
            <a:ext cx="822960" cy="1783080"/>
          </a:xfrm>
          <a:prstGeom prst="rect">
            <a:avLst/>
          </a:prstGeom>
          <a:solidFill>
            <a:schemeClr val="bg2"/>
          </a:solidFill>
          <a:ln w="12700">
            <a:solidFill>
              <a:schemeClr val="bg2"/>
            </a:solidFill>
            <a:prstDash val="solid"/>
          </a:ln>
        </p:spPr>
      </p:sp>
      <p:sp>
        <p:nvSpPr>
          <p:cNvPr id="7" name="Text 5"/>
          <p:cNvSpPr txBox="1"/>
          <p:nvPr/>
        </p:nvSpPr>
        <p:spPr>
          <a:xfrm>
            <a:off x="4297680" y="1051560"/>
            <a:ext cx="822960" cy="274320"/>
          </a:xfrm>
          <a:prstGeom prst="rect">
            <a:avLst/>
          </a:prstGeom>
          <a:noFill/>
          <a:ln/>
        </p:spPr>
        <p:txBody>
          <a:bodyPr wrap="square" lIns="0" tIns="0" rIns="0" bIns="0" rtlCol="0" anchor="ctr"/>
          <a:lstStyle/>
          <a:p>
            <a:pPr algn="ctr" indent="0" marL="0">
              <a:buNone/>
            </a:pPr>
            <a:r>
              <a:rPr lang="en-US" sz="1200" b="1" dirty="0">
                <a:solidFill>
                  <a:schemeClr val="tx2"/>
                </a:solidFill>
              </a:rPr>
              <a:t>Day 3</a:t>
            </a:r>
            <a:endParaRPr lang="en-US" sz="1200" dirty="0"/>
          </a:p>
        </p:txBody>
      </p:sp>
      <p:sp>
        <p:nvSpPr>
          <p:cNvPr id="8" name="Text 6"/>
          <p:cNvSpPr txBox="1"/>
          <p:nvPr/>
        </p:nvSpPr>
        <p:spPr>
          <a:xfrm>
            <a:off x="5120640" y="1051560"/>
            <a:ext cx="822960" cy="274320"/>
          </a:xfrm>
          <a:prstGeom prst="rect">
            <a:avLst/>
          </a:prstGeom>
          <a:noFill/>
          <a:ln/>
        </p:spPr>
        <p:txBody>
          <a:bodyPr wrap="square" lIns="0" tIns="0" rIns="0" bIns="0" rtlCol="0" anchor="ctr"/>
          <a:lstStyle/>
          <a:p>
            <a:pPr algn="ctr" indent="0" marL="0">
              <a:buNone/>
            </a:pPr>
            <a:r>
              <a:rPr lang="en-US" sz="1200" b="1" dirty="0">
                <a:solidFill>
                  <a:schemeClr val="tx2"/>
                </a:solidFill>
              </a:rPr>
              <a:t>Day 4</a:t>
            </a:r>
            <a:endParaRPr lang="en-US" sz="1200" dirty="0"/>
          </a:p>
        </p:txBody>
      </p:sp>
      <p:sp>
        <p:nvSpPr>
          <p:cNvPr id="9" name="Shape 7"/>
          <p:cNvSpPr/>
          <p:nvPr/>
        </p:nvSpPr>
        <p:spPr>
          <a:xfrm>
            <a:off x="5943600" y="1371600"/>
            <a:ext cx="822960" cy="1783080"/>
          </a:xfrm>
          <a:prstGeom prst="rect">
            <a:avLst/>
          </a:prstGeom>
          <a:solidFill>
            <a:schemeClr val="bg2"/>
          </a:solidFill>
          <a:ln w="12700">
            <a:solidFill>
              <a:schemeClr val="bg2"/>
            </a:solidFill>
            <a:prstDash val="solid"/>
          </a:ln>
        </p:spPr>
      </p:sp>
      <p:sp>
        <p:nvSpPr>
          <p:cNvPr id="10" name="Text 8"/>
          <p:cNvSpPr txBox="1"/>
          <p:nvPr/>
        </p:nvSpPr>
        <p:spPr>
          <a:xfrm>
            <a:off x="5943600" y="1051560"/>
            <a:ext cx="822960" cy="274320"/>
          </a:xfrm>
          <a:prstGeom prst="rect">
            <a:avLst/>
          </a:prstGeom>
          <a:noFill/>
          <a:ln/>
        </p:spPr>
        <p:txBody>
          <a:bodyPr wrap="square" lIns="0" tIns="0" rIns="0" bIns="0" rtlCol="0" anchor="ctr"/>
          <a:lstStyle/>
          <a:p>
            <a:pPr algn="ctr" indent="0" marL="0">
              <a:buNone/>
            </a:pPr>
            <a:r>
              <a:rPr lang="en-US" sz="1200" b="1" dirty="0">
                <a:solidFill>
                  <a:schemeClr val="tx2"/>
                </a:solidFill>
              </a:rPr>
              <a:t>Day 5</a:t>
            </a:r>
            <a:endParaRPr lang="en-US" sz="1200" dirty="0"/>
          </a:p>
        </p:txBody>
      </p:sp>
      <p:sp>
        <p:nvSpPr>
          <p:cNvPr id="11" name="Text 9"/>
          <p:cNvSpPr txBox="1"/>
          <p:nvPr/>
        </p:nvSpPr>
        <p:spPr>
          <a:xfrm>
            <a:off x="6766560" y="1051560"/>
            <a:ext cx="822960" cy="274320"/>
          </a:xfrm>
          <a:prstGeom prst="rect">
            <a:avLst/>
          </a:prstGeom>
          <a:noFill/>
          <a:ln/>
        </p:spPr>
        <p:txBody>
          <a:bodyPr wrap="square" lIns="0" tIns="0" rIns="0" bIns="0" rtlCol="0" anchor="ctr"/>
          <a:lstStyle/>
          <a:p>
            <a:pPr algn="ctr" indent="0" marL="0">
              <a:buNone/>
            </a:pPr>
            <a:r>
              <a:rPr lang="en-US" sz="1200" b="1" dirty="0">
                <a:solidFill>
                  <a:schemeClr val="tx2"/>
                </a:solidFill>
              </a:rPr>
              <a:t>Day 6</a:t>
            </a:r>
            <a:endParaRPr lang="en-US" sz="1200" dirty="0"/>
          </a:p>
        </p:txBody>
      </p:sp>
      <p:sp>
        <p:nvSpPr>
          <p:cNvPr id="12" name="Shape 10"/>
          <p:cNvSpPr/>
          <p:nvPr/>
        </p:nvSpPr>
        <p:spPr>
          <a:xfrm>
            <a:off x="7589520" y="1371600"/>
            <a:ext cx="822960" cy="1783080"/>
          </a:xfrm>
          <a:prstGeom prst="rect">
            <a:avLst/>
          </a:prstGeom>
          <a:solidFill>
            <a:schemeClr val="bg2"/>
          </a:solidFill>
          <a:ln w="12700">
            <a:solidFill>
              <a:schemeClr val="bg2"/>
            </a:solidFill>
            <a:prstDash val="solid"/>
          </a:ln>
        </p:spPr>
      </p:sp>
      <p:sp>
        <p:nvSpPr>
          <p:cNvPr id="13" name="Text 11"/>
          <p:cNvSpPr txBox="1"/>
          <p:nvPr/>
        </p:nvSpPr>
        <p:spPr>
          <a:xfrm>
            <a:off x="7589520" y="1051560"/>
            <a:ext cx="822960" cy="274320"/>
          </a:xfrm>
          <a:prstGeom prst="rect">
            <a:avLst/>
          </a:prstGeom>
          <a:noFill/>
          <a:ln/>
        </p:spPr>
        <p:txBody>
          <a:bodyPr wrap="square" lIns="0" tIns="0" rIns="0" bIns="0" rtlCol="0" anchor="ctr"/>
          <a:lstStyle/>
          <a:p>
            <a:pPr algn="ctr" indent="0" marL="0">
              <a:buNone/>
            </a:pPr>
            <a:r>
              <a:rPr lang="en-US" sz="1200" b="1" dirty="0">
                <a:solidFill>
                  <a:schemeClr val="tx2"/>
                </a:solidFill>
              </a:rPr>
              <a:t>Day 7</a:t>
            </a:r>
            <a:endParaRPr lang="en-US" sz="1200" dirty="0"/>
          </a:p>
        </p:txBody>
      </p:sp>
      <p:sp>
        <p:nvSpPr>
          <p:cNvPr id="14" name="Text 12"/>
          <p:cNvSpPr txBox="1"/>
          <p:nvPr/>
        </p:nvSpPr>
        <p:spPr>
          <a:xfrm>
            <a:off x="457200" y="1417320"/>
            <a:ext cx="2148840" cy="274320"/>
          </a:xfrm>
          <a:prstGeom prst="rect">
            <a:avLst/>
          </a:prstGeom>
          <a:noFill/>
          <a:ln/>
        </p:spPr>
        <p:txBody>
          <a:bodyPr wrap="square" lIns="0" tIns="0" rIns="0" bIns="0" rtlCol="0" anchor="ctr"/>
          <a:lstStyle/>
          <a:p>
            <a:pPr indent="0" marL="0">
              <a:buNone/>
            </a:pPr>
            <a:r>
              <a:rPr lang="en-US" sz="1300" dirty="0">
                <a:solidFill>
                  <a:schemeClr val="tx1"/>
                </a:solidFill>
              </a:rPr>
              <a:t>Data Cleaning (DS/DA)</a:t>
            </a:r>
            <a:endParaRPr lang="en-US" sz="1300" dirty="0"/>
          </a:p>
        </p:txBody>
      </p:sp>
      <p:sp>
        <p:nvSpPr>
          <p:cNvPr id="15" name="Shape 13"/>
          <p:cNvSpPr/>
          <p:nvPr/>
        </p:nvSpPr>
        <p:spPr>
          <a:xfrm>
            <a:off x="2688336" y="1417320"/>
            <a:ext cx="1572768" cy="274320"/>
          </a:xfrm>
          <a:prstGeom prst="roundRect">
            <a:avLst>
              <a:gd name="adj" fmla="val 20000"/>
            </a:avLst>
          </a:prstGeom>
          <a:solidFill>
            <a:schemeClr val="accent2"/>
          </a:solidFill>
          <a:ln w="12700">
            <a:solidFill>
              <a:schemeClr val="accent2"/>
            </a:solidFill>
            <a:prstDash val="solid"/>
          </a:ln>
        </p:spPr>
      </p:sp>
      <p:sp>
        <p:nvSpPr>
          <p:cNvPr id="16" name="Text 14"/>
          <p:cNvSpPr txBox="1"/>
          <p:nvPr/>
        </p:nvSpPr>
        <p:spPr>
          <a:xfrm>
            <a:off x="457200" y="1764792"/>
            <a:ext cx="2148840" cy="274320"/>
          </a:xfrm>
          <a:prstGeom prst="rect">
            <a:avLst/>
          </a:prstGeom>
          <a:noFill/>
          <a:ln/>
        </p:spPr>
        <p:txBody>
          <a:bodyPr wrap="square" lIns="0" tIns="0" rIns="0" bIns="0" rtlCol="0" anchor="ctr"/>
          <a:lstStyle/>
          <a:p>
            <a:pPr indent="0" marL="0">
              <a:buNone/>
            </a:pPr>
            <a:r>
              <a:rPr lang="en-US" sz="1300" dirty="0">
                <a:solidFill>
                  <a:schemeClr val="tx1"/>
                </a:solidFill>
              </a:rPr>
              <a:t>Dashboards (DA)</a:t>
            </a:r>
            <a:endParaRPr lang="en-US" sz="1300" dirty="0"/>
          </a:p>
        </p:txBody>
      </p:sp>
      <p:sp>
        <p:nvSpPr>
          <p:cNvPr id="17" name="Shape 15"/>
          <p:cNvSpPr/>
          <p:nvPr/>
        </p:nvSpPr>
        <p:spPr>
          <a:xfrm>
            <a:off x="2688336" y="1764792"/>
            <a:ext cx="2395728" cy="274320"/>
          </a:xfrm>
          <a:prstGeom prst="roundRect">
            <a:avLst>
              <a:gd name="adj" fmla="val 20000"/>
            </a:avLst>
          </a:prstGeom>
          <a:solidFill>
            <a:schemeClr val="accent5"/>
          </a:solidFill>
          <a:ln w="12700">
            <a:solidFill>
              <a:schemeClr val="accent5"/>
            </a:solidFill>
            <a:prstDash val="solid"/>
          </a:ln>
        </p:spPr>
      </p:sp>
      <p:sp>
        <p:nvSpPr>
          <p:cNvPr id="18" name="Text 16"/>
          <p:cNvSpPr txBox="1"/>
          <p:nvPr/>
        </p:nvSpPr>
        <p:spPr>
          <a:xfrm>
            <a:off x="457200" y="2112264"/>
            <a:ext cx="2148840" cy="274320"/>
          </a:xfrm>
          <a:prstGeom prst="rect">
            <a:avLst/>
          </a:prstGeom>
          <a:noFill/>
          <a:ln/>
        </p:spPr>
        <p:txBody>
          <a:bodyPr wrap="square" lIns="0" tIns="0" rIns="0" bIns="0" rtlCol="0" anchor="ctr"/>
          <a:lstStyle/>
          <a:p>
            <a:pPr indent="0" marL="0">
              <a:buNone/>
            </a:pPr>
            <a:r>
              <a:rPr lang="en-US" sz="1300" dirty="0">
                <a:solidFill>
                  <a:schemeClr val="tx1"/>
                </a:solidFill>
              </a:rPr>
              <a:t>Features &amp; Models (DS/ML)</a:t>
            </a:r>
            <a:endParaRPr lang="en-US" sz="1300" dirty="0"/>
          </a:p>
        </p:txBody>
      </p:sp>
      <p:sp>
        <p:nvSpPr>
          <p:cNvPr id="19" name="Shape 17"/>
          <p:cNvSpPr/>
          <p:nvPr/>
        </p:nvSpPr>
        <p:spPr>
          <a:xfrm>
            <a:off x="4334256" y="2112264"/>
            <a:ext cx="2395728" cy="274320"/>
          </a:xfrm>
          <a:prstGeom prst="roundRect">
            <a:avLst>
              <a:gd name="adj" fmla="val 20000"/>
            </a:avLst>
          </a:prstGeom>
          <a:solidFill>
            <a:schemeClr val="accent1"/>
          </a:solidFill>
          <a:ln w="12700">
            <a:solidFill>
              <a:schemeClr val="accent1"/>
            </a:solidFill>
            <a:prstDash val="solid"/>
          </a:ln>
        </p:spPr>
      </p:sp>
      <p:sp>
        <p:nvSpPr>
          <p:cNvPr id="20" name="Text 18"/>
          <p:cNvSpPr txBox="1"/>
          <p:nvPr/>
        </p:nvSpPr>
        <p:spPr>
          <a:xfrm>
            <a:off x="457200" y="2459736"/>
            <a:ext cx="2148840" cy="274320"/>
          </a:xfrm>
          <a:prstGeom prst="rect">
            <a:avLst/>
          </a:prstGeom>
          <a:noFill/>
          <a:ln/>
        </p:spPr>
        <p:txBody>
          <a:bodyPr wrap="square" lIns="0" tIns="0" rIns="0" bIns="0" rtlCol="0" anchor="ctr"/>
          <a:lstStyle/>
          <a:p>
            <a:pPr indent="0" marL="0">
              <a:buNone/>
            </a:pPr>
            <a:r>
              <a:rPr lang="en-US" sz="1300" dirty="0">
                <a:solidFill>
                  <a:schemeClr val="tx1"/>
                </a:solidFill>
              </a:rPr>
              <a:t>RAG &amp; Integration (GenAI)</a:t>
            </a:r>
            <a:endParaRPr lang="en-US" sz="1300" dirty="0"/>
          </a:p>
        </p:txBody>
      </p:sp>
      <p:sp>
        <p:nvSpPr>
          <p:cNvPr id="21" name="Shape 19"/>
          <p:cNvSpPr/>
          <p:nvPr/>
        </p:nvSpPr>
        <p:spPr>
          <a:xfrm>
            <a:off x="5980176" y="2459736"/>
            <a:ext cx="1572768" cy="274320"/>
          </a:xfrm>
          <a:prstGeom prst="roundRect">
            <a:avLst>
              <a:gd name="adj" fmla="val 20000"/>
            </a:avLst>
          </a:prstGeom>
          <a:solidFill>
            <a:schemeClr val="accent4"/>
          </a:solidFill>
          <a:ln w="12700">
            <a:solidFill>
              <a:schemeClr val="accent4"/>
            </a:solidFill>
            <a:prstDash val="solid"/>
          </a:ln>
        </p:spPr>
      </p:sp>
      <p:sp>
        <p:nvSpPr>
          <p:cNvPr id="22" name="Text 20"/>
          <p:cNvSpPr txBox="1"/>
          <p:nvPr/>
        </p:nvSpPr>
        <p:spPr>
          <a:xfrm>
            <a:off x="457200" y="2807208"/>
            <a:ext cx="2148840" cy="274320"/>
          </a:xfrm>
          <a:prstGeom prst="rect">
            <a:avLst/>
          </a:prstGeom>
          <a:noFill/>
          <a:ln/>
        </p:spPr>
        <p:txBody>
          <a:bodyPr wrap="square" lIns="0" tIns="0" rIns="0" bIns="0" rtlCol="0" anchor="ctr"/>
          <a:lstStyle/>
          <a:p>
            <a:pPr indent="0" marL="0">
              <a:buNone/>
            </a:pPr>
            <a:r>
              <a:rPr lang="en-US" sz="1300" dirty="0">
                <a:solidFill>
                  <a:schemeClr val="tx1"/>
                </a:solidFill>
              </a:rPr>
              <a:t>QA &amp; PM Reporting</a:t>
            </a:r>
            <a:endParaRPr lang="en-US" sz="1300" dirty="0"/>
          </a:p>
        </p:txBody>
      </p:sp>
      <p:sp>
        <p:nvSpPr>
          <p:cNvPr id="23" name="Shape 21"/>
          <p:cNvSpPr/>
          <p:nvPr/>
        </p:nvSpPr>
        <p:spPr>
          <a:xfrm>
            <a:off x="6803136" y="2807208"/>
            <a:ext cx="1572768" cy="274320"/>
          </a:xfrm>
          <a:prstGeom prst="roundRect">
            <a:avLst>
              <a:gd name="adj" fmla="val 20000"/>
            </a:avLst>
          </a:prstGeom>
          <a:solidFill>
            <a:schemeClr val="accent3"/>
          </a:solidFill>
          <a:ln w="12700">
            <a:solidFill>
              <a:schemeClr val="accent3"/>
            </a:solidFill>
            <a:prstDash val="solid"/>
          </a:ln>
        </p:spPr>
      </p:sp>
      <p:sp>
        <p:nvSpPr>
          <p:cNvPr id="24" name="Text 22"/>
          <p:cNvSpPr txBox="1"/>
          <p:nvPr/>
        </p:nvSpPr>
        <p:spPr>
          <a:xfrm>
            <a:off x="457200" y="3200400"/>
            <a:ext cx="2148840" cy="420624"/>
          </a:xfrm>
          <a:prstGeom prst="rect">
            <a:avLst/>
          </a:prstGeom>
          <a:noFill/>
          <a:ln/>
        </p:spPr>
        <p:txBody>
          <a:bodyPr wrap="square" lIns="0" tIns="0" rIns="0" bIns="0" rtlCol="0" anchor="ctr"/>
          <a:lstStyle/>
          <a:p>
            <a:pPr indent="0" marL="0">
              <a:buNone/>
            </a:pPr>
            <a:r>
              <a:rPr lang="en-US" sz="1300" b="1" dirty="0">
                <a:solidFill>
                  <a:schemeClr val="tx2"/>
                </a:solidFill>
              </a:rPr>
              <a:t>Milestones</a:t>
            </a:r>
            <a:endParaRPr lang="en-US" sz="1300" dirty="0"/>
          </a:p>
        </p:txBody>
      </p:sp>
      <p:sp>
        <p:nvSpPr>
          <p:cNvPr id="25" name="Shape 23"/>
          <p:cNvSpPr/>
          <p:nvPr/>
        </p:nvSpPr>
        <p:spPr>
          <a:xfrm>
            <a:off x="4087368" y="3200400"/>
            <a:ext cx="420624" cy="420624"/>
          </a:xfrm>
          <a:prstGeom prst="diamond">
            <a:avLst/>
          </a:prstGeom>
          <a:solidFill>
            <a:schemeClr val="accent1"/>
          </a:solidFill>
          <a:ln w="12700">
            <a:solidFill>
              <a:schemeClr val="tx1"/>
            </a:solidFill>
            <a:prstDash val="solid"/>
          </a:ln>
        </p:spPr>
      </p:sp>
      <p:sp>
        <p:nvSpPr>
          <p:cNvPr id="26" name="Text 24"/>
          <p:cNvSpPr txBox="1"/>
          <p:nvPr/>
        </p:nvSpPr>
        <p:spPr>
          <a:xfrm>
            <a:off x="4087368" y="3200400"/>
            <a:ext cx="420624" cy="420624"/>
          </a:xfrm>
          <a:prstGeom prst="rect">
            <a:avLst/>
          </a:prstGeom>
          <a:noFill/>
          <a:ln/>
        </p:spPr>
        <p:txBody>
          <a:bodyPr wrap="square" lIns="0" tIns="0" rIns="0" bIns="0" rtlCol="0" anchor="ctr"/>
          <a:lstStyle/>
          <a:p>
            <a:pPr algn="ctr" indent="0" marL="0">
              <a:buNone/>
            </a:pPr>
            <a:r>
              <a:rPr lang="en-US" sz="900" b="1" dirty="0">
                <a:solidFill>
                  <a:schemeClr val="tx1"/>
                </a:solidFill>
              </a:rPr>
              <a:t>M1</a:t>
            </a:r>
            <a:endParaRPr lang="en-US" sz="900" dirty="0"/>
          </a:p>
        </p:txBody>
      </p:sp>
      <p:sp>
        <p:nvSpPr>
          <p:cNvPr id="27" name="Shape 25"/>
          <p:cNvSpPr/>
          <p:nvPr/>
        </p:nvSpPr>
        <p:spPr>
          <a:xfrm>
            <a:off x="4910328" y="3200400"/>
            <a:ext cx="420624" cy="420624"/>
          </a:xfrm>
          <a:prstGeom prst="diamond">
            <a:avLst/>
          </a:prstGeom>
          <a:solidFill>
            <a:schemeClr val="accent1"/>
          </a:solidFill>
          <a:ln w="12700">
            <a:solidFill>
              <a:schemeClr val="tx1"/>
            </a:solidFill>
            <a:prstDash val="solid"/>
          </a:ln>
        </p:spPr>
      </p:sp>
      <p:sp>
        <p:nvSpPr>
          <p:cNvPr id="28" name="Text 26"/>
          <p:cNvSpPr txBox="1"/>
          <p:nvPr/>
        </p:nvSpPr>
        <p:spPr>
          <a:xfrm>
            <a:off x="4910328" y="3200400"/>
            <a:ext cx="420624" cy="420624"/>
          </a:xfrm>
          <a:prstGeom prst="rect">
            <a:avLst/>
          </a:prstGeom>
          <a:noFill/>
          <a:ln/>
        </p:spPr>
        <p:txBody>
          <a:bodyPr wrap="square" lIns="0" tIns="0" rIns="0" bIns="0" rtlCol="0" anchor="ctr"/>
          <a:lstStyle/>
          <a:p>
            <a:pPr algn="ctr" indent="0" marL="0">
              <a:buNone/>
            </a:pPr>
            <a:r>
              <a:rPr lang="en-US" sz="900" b="1" dirty="0">
                <a:solidFill>
                  <a:schemeClr val="tx1"/>
                </a:solidFill>
              </a:rPr>
              <a:t>M2</a:t>
            </a:r>
            <a:endParaRPr lang="en-US" sz="900" dirty="0"/>
          </a:p>
        </p:txBody>
      </p:sp>
      <p:sp>
        <p:nvSpPr>
          <p:cNvPr id="29" name="Shape 27"/>
          <p:cNvSpPr/>
          <p:nvPr/>
        </p:nvSpPr>
        <p:spPr>
          <a:xfrm>
            <a:off x="6556248" y="3200400"/>
            <a:ext cx="420624" cy="420624"/>
          </a:xfrm>
          <a:prstGeom prst="diamond">
            <a:avLst/>
          </a:prstGeom>
          <a:solidFill>
            <a:schemeClr val="accent1"/>
          </a:solidFill>
          <a:ln w="12700">
            <a:solidFill>
              <a:schemeClr val="tx1"/>
            </a:solidFill>
            <a:prstDash val="solid"/>
          </a:ln>
        </p:spPr>
      </p:sp>
      <p:sp>
        <p:nvSpPr>
          <p:cNvPr id="30" name="Text 28"/>
          <p:cNvSpPr txBox="1"/>
          <p:nvPr/>
        </p:nvSpPr>
        <p:spPr>
          <a:xfrm>
            <a:off x="6556248" y="3200400"/>
            <a:ext cx="420624" cy="420624"/>
          </a:xfrm>
          <a:prstGeom prst="rect">
            <a:avLst/>
          </a:prstGeom>
          <a:noFill/>
          <a:ln/>
        </p:spPr>
        <p:txBody>
          <a:bodyPr wrap="square" lIns="0" tIns="0" rIns="0" bIns="0" rtlCol="0" anchor="ctr"/>
          <a:lstStyle/>
          <a:p>
            <a:pPr algn="ctr" indent="0" marL="0">
              <a:buNone/>
            </a:pPr>
            <a:r>
              <a:rPr lang="en-US" sz="900" b="1" dirty="0">
                <a:solidFill>
                  <a:schemeClr val="tx1"/>
                </a:solidFill>
              </a:rPr>
              <a:t>M3</a:t>
            </a:r>
            <a:endParaRPr lang="en-US" sz="900" dirty="0"/>
          </a:p>
        </p:txBody>
      </p:sp>
      <p:sp>
        <p:nvSpPr>
          <p:cNvPr id="31" name="Shape 29"/>
          <p:cNvSpPr/>
          <p:nvPr/>
        </p:nvSpPr>
        <p:spPr>
          <a:xfrm>
            <a:off x="7379208" y="3200400"/>
            <a:ext cx="420624" cy="420624"/>
          </a:xfrm>
          <a:prstGeom prst="diamond">
            <a:avLst/>
          </a:prstGeom>
          <a:solidFill>
            <a:schemeClr val="accent1"/>
          </a:solidFill>
          <a:ln w="12700">
            <a:solidFill>
              <a:schemeClr val="tx1"/>
            </a:solidFill>
            <a:prstDash val="solid"/>
          </a:ln>
        </p:spPr>
      </p:sp>
      <p:sp>
        <p:nvSpPr>
          <p:cNvPr id="32" name="Text 30"/>
          <p:cNvSpPr txBox="1"/>
          <p:nvPr/>
        </p:nvSpPr>
        <p:spPr>
          <a:xfrm>
            <a:off x="7379208" y="3200400"/>
            <a:ext cx="420624" cy="420624"/>
          </a:xfrm>
          <a:prstGeom prst="rect">
            <a:avLst/>
          </a:prstGeom>
          <a:noFill/>
          <a:ln/>
        </p:spPr>
        <p:txBody>
          <a:bodyPr wrap="square" lIns="0" tIns="0" rIns="0" bIns="0" rtlCol="0" anchor="ctr"/>
          <a:lstStyle/>
          <a:p>
            <a:pPr algn="ctr" indent="0" marL="0">
              <a:buNone/>
            </a:pPr>
            <a:r>
              <a:rPr lang="en-US" sz="900" b="1" dirty="0">
                <a:solidFill>
                  <a:schemeClr val="tx1"/>
                </a:solidFill>
              </a:rPr>
              <a:t>M4</a:t>
            </a:r>
            <a:endParaRPr lang="en-US" sz="900" dirty="0"/>
          </a:p>
        </p:txBody>
      </p:sp>
      <p:sp>
        <p:nvSpPr>
          <p:cNvPr id="33" name="Shape 31"/>
          <p:cNvSpPr/>
          <p:nvPr/>
        </p:nvSpPr>
        <p:spPr>
          <a:xfrm>
            <a:off x="8202168" y="3200400"/>
            <a:ext cx="420624" cy="420624"/>
          </a:xfrm>
          <a:prstGeom prst="diamond">
            <a:avLst/>
          </a:prstGeom>
          <a:solidFill>
            <a:schemeClr val="accent1"/>
          </a:solidFill>
          <a:ln w="12700">
            <a:solidFill>
              <a:schemeClr val="tx1"/>
            </a:solidFill>
            <a:prstDash val="solid"/>
          </a:ln>
        </p:spPr>
      </p:sp>
      <p:sp>
        <p:nvSpPr>
          <p:cNvPr id="34" name="Text 32"/>
          <p:cNvSpPr txBox="1"/>
          <p:nvPr/>
        </p:nvSpPr>
        <p:spPr>
          <a:xfrm>
            <a:off x="8202168" y="3200400"/>
            <a:ext cx="420624" cy="420624"/>
          </a:xfrm>
          <a:prstGeom prst="rect">
            <a:avLst/>
          </a:prstGeom>
          <a:noFill/>
          <a:ln/>
        </p:spPr>
        <p:txBody>
          <a:bodyPr wrap="square" lIns="0" tIns="0" rIns="0" bIns="0" rtlCol="0" anchor="ctr"/>
          <a:lstStyle/>
          <a:p>
            <a:pPr algn="ctr" indent="0" marL="0">
              <a:buNone/>
            </a:pPr>
            <a:r>
              <a:rPr lang="en-US" sz="900" b="1" dirty="0">
                <a:solidFill>
                  <a:schemeClr val="tx1"/>
                </a:solidFill>
              </a:rPr>
              <a:t>M5</a:t>
            </a:r>
            <a:endParaRPr lang="en-US" sz="900" dirty="0"/>
          </a:p>
        </p:txBody>
      </p:sp>
      <p:sp>
        <p:nvSpPr>
          <p:cNvPr id="35" name="Text 33"/>
          <p:cNvSpPr txBox="1"/>
          <p:nvPr/>
        </p:nvSpPr>
        <p:spPr>
          <a:xfrm>
            <a:off x="457200" y="3749040"/>
            <a:ext cx="4023360" cy="548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Days 1-2: Data Cleaning (DS/DA)</a:t>
            </a:r>
            <a:endParaRPr lang="en-US" sz="1400" dirty="0"/>
          </a:p>
          <a:p>
            <a:pPr marL="342900" indent="-342900">
              <a:spcAft>
                <a:spcPts val="800"/>
              </a:spcAft>
              <a:buSzPct val="100000"/>
              <a:buChar char="•"/>
            </a:pPr>
            <a:r>
              <a:rPr lang="en-US" sz="1400" dirty="0">
                <a:solidFill>
                  <a:schemeClr val="tx1"/>
                </a:solidFill>
              </a:rPr>
              <a:t>Days 3-4: Dashboards &amp; Features</a:t>
            </a:r>
            <a:endParaRPr lang="en-US" sz="1400" dirty="0"/>
          </a:p>
        </p:txBody>
      </p:sp>
      <p:sp>
        <p:nvSpPr>
          <p:cNvPr id="36" name="Text 34"/>
          <p:cNvSpPr txBox="1"/>
          <p:nvPr/>
        </p:nvSpPr>
        <p:spPr>
          <a:xfrm>
            <a:off x="4663440" y="3749040"/>
            <a:ext cx="4023360" cy="548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Days 5-6: ML &amp; GenAI Deployment</a:t>
            </a:r>
            <a:endParaRPr lang="en-US" sz="1400" dirty="0"/>
          </a:p>
          <a:p>
            <a:pPr marL="342900" indent="-342900">
              <a:spcAft>
                <a:spcPts val="800"/>
              </a:spcAft>
              <a:buSzPct val="100000"/>
              <a:buChar char="•"/>
            </a:pPr>
            <a:r>
              <a:rPr lang="en-US" sz="1400" dirty="0">
                <a:solidFill>
                  <a:schemeClr val="tx1"/>
                </a:solidFill>
              </a:rPr>
              <a:t>Day 7: QA &amp; Final Submission</a:t>
            </a:r>
            <a:endParaRPr lang="en-US" sz="1400" dirty="0"/>
          </a:p>
        </p:txBody>
      </p:sp>
      <p:sp>
        <p:nvSpPr>
          <p:cNvPr id="37" name="Text 35"/>
          <p:cNvSpPr txBox="1"/>
          <p:nvPr/>
        </p:nvSpPr>
        <p:spPr>
          <a:xfrm>
            <a:off x="457200" y="4370832"/>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Milestones: M1 (Day 2), M2 (Day 3), M3 (Day 5), M4 (Day 6), M5 (Day 7)</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Risk management: heat map</a:t>
            </a:r>
            <a:endParaRPr lang="en-US" sz="3200" dirty="0"/>
          </a:p>
        </p:txBody>
      </p:sp>
      <p:sp>
        <p:nvSpPr>
          <p:cNvPr id="3" name="Shape 1"/>
          <p:cNvSpPr/>
          <p:nvPr/>
        </p:nvSpPr>
        <p:spPr>
          <a:xfrm>
            <a:off x="1143000" y="1371600"/>
            <a:ext cx="822960" cy="822960"/>
          </a:xfrm>
          <a:prstGeom prst="rect">
            <a:avLst/>
          </a:prstGeom>
          <a:solidFill>
            <a:schemeClr val="accent1"/>
          </a:solidFill>
          <a:ln w="12700">
            <a:solidFill>
              <a:schemeClr val="bg1"/>
            </a:solidFill>
            <a:prstDash val="solid"/>
          </a:ln>
        </p:spPr>
      </p:sp>
      <p:sp>
        <p:nvSpPr>
          <p:cNvPr id="4" name="Shape 2"/>
          <p:cNvSpPr/>
          <p:nvPr/>
        </p:nvSpPr>
        <p:spPr>
          <a:xfrm>
            <a:off x="1143000" y="2240280"/>
            <a:ext cx="822960" cy="822960"/>
          </a:xfrm>
          <a:prstGeom prst="rect">
            <a:avLst/>
          </a:prstGeom>
          <a:solidFill>
            <a:schemeClr val="accent4"/>
          </a:solidFill>
          <a:ln w="12700">
            <a:solidFill>
              <a:schemeClr val="bg1"/>
            </a:solidFill>
            <a:prstDash val="solid"/>
          </a:ln>
        </p:spPr>
      </p:sp>
      <p:sp>
        <p:nvSpPr>
          <p:cNvPr id="5" name="Shape 3"/>
          <p:cNvSpPr/>
          <p:nvPr/>
        </p:nvSpPr>
        <p:spPr>
          <a:xfrm>
            <a:off x="1143000" y="3108960"/>
            <a:ext cx="822960" cy="822960"/>
          </a:xfrm>
          <a:prstGeom prst="rect">
            <a:avLst/>
          </a:prstGeom>
          <a:solidFill>
            <a:schemeClr val="accent4"/>
          </a:solidFill>
          <a:ln w="12700">
            <a:solidFill>
              <a:schemeClr val="bg1"/>
            </a:solidFill>
            <a:prstDash val="solid"/>
          </a:ln>
        </p:spPr>
      </p:sp>
      <p:sp>
        <p:nvSpPr>
          <p:cNvPr id="6" name="Shape 4"/>
          <p:cNvSpPr/>
          <p:nvPr/>
        </p:nvSpPr>
        <p:spPr>
          <a:xfrm>
            <a:off x="2011680" y="1371600"/>
            <a:ext cx="822960" cy="822960"/>
          </a:xfrm>
          <a:prstGeom prst="rect">
            <a:avLst/>
          </a:prstGeom>
          <a:solidFill>
            <a:schemeClr val="accent3"/>
          </a:solidFill>
          <a:ln w="12700">
            <a:solidFill>
              <a:schemeClr val="bg1"/>
            </a:solidFill>
            <a:prstDash val="solid"/>
          </a:ln>
        </p:spPr>
      </p:sp>
      <p:sp>
        <p:nvSpPr>
          <p:cNvPr id="7" name="Text 5"/>
          <p:cNvSpPr txBox="1"/>
          <p:nvPr/>
        </p:nvSpPr>
        <p:spPr>
          <a:xfrm>
            <a:off x="2011680" y="1371600"/>
            <a:ext cx="822960" cy="822960"/>
          </a:xfrm>
          <a:prstGeom prst="rect">
            <a:avLst/>
          </a:prstGeom>
          <a:noFill/>
          <a:ln/>
        </p:spPr>
        <p:txBody>
          <a:bodyPr wrap="square" lIns="0" tIns="0" rIns="0" bIns="0" rtlCol="0" anchor="ctr"/>
          <a:lstStyle/>
          <a:p>
            <a:pPr algn="ctr" indent="0" marL="0">
              <a:buNone/>
            </a:pPr>
            <a:r>
              <a:rPr lang="en-US" sz="1200" b="1" dirty="0">
                <a:solidFill>
                  <a:schemeClr val="bg1"/>
                </a:solidFill>
              </a:rPr>
              <a:t>R9</a:t>
            </a:r>
            <a:endParaRPr lang="en-US" sz="1200" dirty="0"/>
          </a:p>
        </p:txBody>
      </p:sp>
      <p:sp>
        <p:nvSpPr>
          <p:cNvPr id="8" name="Shape 6"/>
          <p:cNvSpPr/>
          <p:nvPr/>
        </p:nvSpPr>
        <p:spPr>
          <a:xfrm>
            <a:off x="2011680" y="2240280"/>
            <a:ext cx="822960" cy="822960"/>
          </a:xfrm>
          <a:prstGeom prst="rect">
            <a:avLst/>
          </a:prstGeom>
          <a:solidFill>
            <a:schemeClr val="accent1"/>
          </a:solidFill>
          <a:ln w="12700">
            <a:solidFill>
              <a:schemeClr val="bg1"/>
            </a:solidFill>
            <a:prstDash val="solid"/>
          </a:ln>
        </p:spPr>
      </p:sp>
      <p:sp>
        <p:nvSpPr>
          <p:cNvPr id="9" name="Text 7"/>
          <p:cNvSpPr txBox="1"/>
          <p:nvPr/>
        </p:nvSpPr>
        <p:spPr>
          <a:xfrm>
            <a:off x="2011680" y="2240280"/>
            <a:ext cx="822960" cy="822960"/>
          </a:xfrm>
          <a:prstGeom prst="rect">
            <a:avLst/>
          </a:prstGeom>
          <a:noFill/>
          <a:ln/>
        </p:spPr>
        <p:txBody>
          <a:bodyPr wrap="square" lIns="0" tIns="0" rIns="0" bIns="0" rtlCol="0" anchor="ctr"/>
          <a:lstStyle/>
          <a:p>
            <a:pPr algn="ctr" indent="0" marL="0">
              <a:buNone/>
            </a:pPr>
            <a:r>
              <a:rPr lang="en-US" sz="1200" b="1" dirty="0">
                <a:solidFill>
                  <a:schemeClr val="tx1"/>
                </a:solidFill>
              </a:rPr>
              <a:t>R5 R10</a:t>
            </a:r>
            <a:endParaRPr lang="en-US" sz="1200" dirty="0"/>
          </a:p>
        </p:txBody>
      </p:sp>
      <p:sp>
        <p:nvSpPr>
          <p:cNvPr id="10" name="Shape 8"/>
          <p:cNvSpPr/>
          <p:nvPr/>
        </p:nvSpPr>
        <p:spPr>
          <a:xfrm>
            <a:off x="2011680" y="3108960"/>
            <a:ext cx="822960" cy="822960"/>
          </a:xfrm>
          <a:prstGeom prst="rect">
            <a:avLst/>
          </a:prstGeom>
          <a:solidFill>
            <a:schemeClr val="accent4"/>
          </a:solidFill>
          <a:ln w="12700">
            <a:solidFill>
              <a:schemeClr val="bg1"/>
            </a:solidFill>
            <a:prstDash val="solid"/>
          </a:ln>
        </p:spPr>
      </p:sp>
      <p:sp>
        <p:nvSpPr>
          <p:cNvPr id="11" name="Shape 9"/>
          <p:cNvSpPr/>
          <p:nvPr/>
        </p:nvSpPr>
        <p:spPr>
          <a:xfrm>
            <a:off x="2880360" y="1371600"/>
            <a:ext cx="822960" cy="822960"/>
          </a:xfrm>
          <a:prstGeom prst="rect">
            <a:avLst/>
          </a:prstGeom>
          <a:solidFill>
            <a:schemeClr val="accent3"/>
          </a:solidFill>
          <a:ln w="12700">
            <a:solidFill>
              <a:schemeClr val="bg1"/>
            </a:solidFill>
            <a:prstDash val="solid"/>
          </a:ln>
        </p:spPr>
      </p:sp>
      <p:sp>
        <p:nvSpPr>
          <p:cNvPr id="12" name="Text 10"/>
          <p:cNvSpPr txBox="1"/>
          <p:nvPr/>
        </p:nvSpPr>
        <p:spPr>
          <a:xfrm>
            <a:off x="2880360" y="1371600"/>
            <a:ext cx="822960" cy="822960"/>
          </a:xfrm>
          <a:prstGeom prst="rect">
            <a:avLst/>
          </a:prstGeom>
          <a:noFill/>
          <a:ln/>
        </p:spPr>
        <p:txBody>
          <a:bodyPr wrap="square" lIns="0" tIns="0" rIns="0" bIns="0" rtlCol="0" anchor="ctr"/>
          <a:lstStyle/>
          <a:p>
            <a:pPr algn="ctr" indent="0" marL="0">
              <a:buNone/>
            </a:pPr>
            <a:r>
              <a:rPr lang="en-US" sz="1200" b="1" dirty="0">
                <a:solidFill>
                  <a:schemeClr val="bg1"/>
                </a:solidFill>
              </a:rPr>
              <a:t>R1 R3 R4</a:t>
            </a:r>
            <a:endParaRPr lang="en-US" sz="1200" dirty="0"/>
          </a:p>
        </p:txBody>
      </p:sp>
      <p:sp>
        <p:nvSpPr>
          <p:cNvPr id="13" name="Shape 11"/>
          <p:cNvSpPr/>
          <p:nvPr/>
        </p:nvSpPr>
        <p:spPr>
          <a:xfrm>
            <a:off x="2880360" y="2240280"/>
            <a:ext cx="822960" cy="822960"/>
          </a:xfrm>
          <a:prstGeom prst="rect">
            <a:avLst/>
          </a:prstGeom>
          <a:solidFill>
            <a:schemeClr val="accent3"/>
          </a:solidFill>
          <a:ln w="12700">
            <a:solidFill>
              <a:schemeClr val="bg1"/>
            </a:solidFill>
            <a:prstDash val="solid"/>
          </a:ln>
        </p:spPr>
      </p:sp>
      <p:sp>
        <p:nvSpPr>
          <p:cNvPr id="14" name="Text 12"/>
          <p:cNvSpPr txBox="1"/>
          <p:nvPr/>
        </p:nvSpPr>
        <p:spPr>
          <a:xfrm>
            <a:off x="2880360" y="2240280"/>
            <a:ext cx="822960" cy="822960"/>
          </a:xfrm>
          <a:prstGeom prst="rect">
            <a:avLst/>
          </a:prstGeom>
          <a:noFill/>
          <a:ln/>
        </p:spPr>
        <p:txBody>
          <a:bodyPr wrap="square" lIns="0" tIns="0" rIns="0" bIns="0" rtlCol="0" anchor="ctr"/>
          <a:lstStyle/>
          <a:p>
            <a:pPr algn="ctr" indent="0" marL="0">
              <a:buNone/>
            </a:pPr>
            <a:r>
              <a:rPr lang="en-US" sz="1200" b="1" dirty="0">
                <a:solidFill>
                  <a:schemeClr val="bg1"/>
                </a:solidFill>
              </a:rPr>
              <a:t>R2 R6 R7</a:t>
            </a:r>
            <a:endParaRPr lang="en-US" sz="1200" dirty="0"/>
          </a:p>
        </p:txBody>
      </p:sp>
      <p:sp>
        <p:nvSpPr>
          <p:cNvPr id="15" name="Shape 13"/>
          <p:cNvSpPr/>
          <p:nvPr/>
        </p:nvSpPr>
        <p:spPr>
          <a:xfrm>
            <a:off x="2880360" y="3108960"/>
            <a:ext cx="822960" cy="822960"/>
          </a:xfrm>
          <a:prstGeom prst="rect">
            <a:avLst/>
          </a:prstGeom>
          <a:solidFill>
            <a:schemeClr val="accent1"/>
          </a:solidFill>
          <a:ln w="12700">
            <a:solidFill>
              <a:schemeClr val="bg1"/>
            </a:solidFill>
            <a:prstDash val="solid"/>
          </a:ln>
        </p:spPr>
      </p:sp>
      <p:sp>
        <p:nvSpPr>
          <p:cNvPr id="16" name="Text 14"/>
          <p:cNvSpPr txBox="1"/>
          <p:nvPr/>
        </p:nvSpPr>
        <p:spPr>
          <a:xfrm>
            <a:off x="2880360" y="3108960"/>
            <a:ext cx="822960" cy="822960"/>
          </a:xfrm>
          <a:prstGeom prst="rect">
            <a:avLst/>
          </a:prstGeom>
          <a:noFill/>
          <a:ln/>
        </p:spPr>
        <p:txBody>
          <a:bodyPr wrap="square" lIns="0" tIns="0" rIns="0" bIns="0" rtlCol="0" anchor="ctr"/>
          <a:lstStyle/>
          <a:p>
            <a:pPr algn="ctr" indent="0" marL="0">
              <a:buNone/>
            </a:pPr>
            <a:r>
              <a:rPr lang="en-US" sz="1200" b="1" dirty="0">
                <a:solidFill>
                  <a:schemeClr val="tx1"/>
                </a:solidFill>
              </a:rPr>
              <a:t>R8</a:t>
            </a:r>
            <a:endParaRPr lang="en-US" sz="1200" dirty="0"/>
          </a:p>
        </p:txBody>
      </p:sp>
      <p:sp>
        <p:nvSpPr>
          <p:cNvPr id="17" name="Text 15"/>
          <p:cNvSpPr txBox="1"/>
          <p:nvPr/>
        </p:nvSpPr>
        <p:spPr>
          <a:xfrm>
            <a:off x="502920" y="1371600"/>
            <a:ext cx="594360" cy="822960"/>
          </a:xfrm>
          <a:prstGeom prst="rect">
            <a:avLst/>
          </a:prstGeom>
          <a:noFill/>
          <a:ln/>
        </p:spPr>
        <p:txBody>
          <a:bodyPr wrap="square" lIns="0" tIns="0" rIns="0" bIns="0" rtlCol="0" anchor="ctr"/>
          <a:lstStyle/>
          <a:p>
            <a:pPr algn="r" indent="0" marL="0">
              <a:buNone/>
            </a:pPr>
            <a:r>
              <a:rPr lang="en-US" sz="1100" dirty="0">
                <a:solidFill>
                  <a:schemeClr val="accent6"/>
                </a:solidFill>
              </a:rPr>
              <a:t>High</a:t>
            </a:r>
            <a:endParaRPr lang="en-US" sz="1100" dirty="0"/>
          </a:p>
        </p:txBody>
      </p:sp>
      <p:sp>
        <p:nvSpPr>
          <p:cNvPr id="18" name="Text 16"/>
          <p:cNvSpPr txBox="1"/>
          <p:nvPr/>
        </p:nvSpPr>
        <p:spPr>
          <a:xfrm>
            <a:off x="502920" y="2240280"/>
            <a:ext cx="594360" cy="822960"/>
          </a:xfrm>
          <a:prstGeom prst="rect">
            <a:avLst/>
          </a:prstGeom>
          <a:noFill/>
          <a:ln/>
        </p:spPr>
        <p:txBody>
          <a:bodyPr wrap="square" lIns="0" tIns="0" rIns="0" bIns="0" rtlCol="0" anchor="ctr"/>
          <a:lstStyle/>
          <a:p>
            <a:pPr algn="r" indent="0" marL="0">
              <a:buNone/>
            </a:pPr>
            <a:r>
              <a:rPr lang="en-US" sz="1100" dirty="0">
                <a:solidFill>
                  <a:schemeClr val="accent6"/>
                </a:solidFill>
              </a:rPr>
              <a:t>Med</a:t>
            </a:r>
            <a:endParaRPr lang="en-US" sz="1100" dirty="0"/>
          </a:p>
        </p:txBody>
      </p:sp>
      <p:sp>
        <p:nvSpPr>
          <p:cNvPr id="19" name="Text 17"/>
          <p:cNvSpPr txBox="1"/>
          <p:nvPr/>
        </p:nvSpPr>
        <p:spPr>
          <a:xfrm>
            <a:off x="502920" y="3108960"/>
            <a:ext cx="594360" cy="822960"/>
          </a:xfrm>
          <a:prstGeom prst="rect">
            <a:avLst/>
          </a:prstGeom>
          <a:noFill/>
          <a:ln/>
        </p:spPr>
        <p:txBody>
          <a:bodyPr wrap="square" lIns="0" tIns="0" rIns="0" bIns="0" rtlCol="0" anchor="ctr"/>
          <a:lstStyle/>
          <a:p>
            <a:pPr algn="r" indent="0" marL="0">
              <a:buNone/>
            </a:pPr>
            <a:r>
              <a:rPr lang="en-US" sz="1100" dirty="0">
                <a:solidFill>
                  <a:schemeClr val="accent6"/>
                </a:solidFill>
              </a:rPr>
              <a:t>Low</a:t>
            </a:r>
            <a:endParaRPr lang="en-US" sz="1100" dirty="0"/>
          </a:p>
        </p:txBody>
      </p:sp>
      <p:sp>
        <p:nvSpPr>
          <p:cNvPr id="20" name="Text 18"/>
          <p:cNvSpPr txBox="1"/>
          <p:nvPr/>
        </p:nvSpPr>
        <p:spPr>
          <a:xfrm>
            <a:off x="1143000" y="3977640"/>
            <a:ext cx="822960" cy="256032"/>
          </a:xfrm>
          <a:prstGeom prst="rect">
            <a:avLst/>
          </a:prstGeom>
          <a:noFill/>
          <a:ln/>
        </p:spPr>
        <p:txBody>
          <a:bodyPr wrap="square" lIns="0" tIns="0" rIns="0" bIns="0" rtlCol="0" anchor="ctr"/>
          <a:lstStyle/>
          <a:p>
            <a:pPr algn="ctr" indent="0" marL="0">
              <a:buNone/>
            </a:pPr>
            <a:r>
              <a:rPr lang="en-US" sz="1100" dirty="0">
                <a:solidFill>
                  <a:schemeClr val="accent6"/>
                </a:solidFill>
              </a:rPr>
              <a:t>Low</a:t>
            </a:r>
            <a:endParaRPr lang="en-US" sz="1100" dirty="0"/>
          </a:p>
        </p:txBody>
      </p:sp>
      <p:sp>
        <p:nvSpPr>
          <p:cNvPr id="21" name="Text 19"/>
          <p:cNvSpPr txBox="1"/>
          <p:nvPr/>
        </p:nvSpPr>
        <p:spPr>
          <a:xfrm>
            <a:off x="2011680" y="3977640"/>
            <a:ext cx="822960" cy="256032"/>
          </a:xfrm>
          <a:prstGeom prst="rect">
            <a:avLst/>
          </a:prstGeom>
          <a:noFill/>
          <a:ln/>
        </p:spPr>
        <p:txBody>
          <a:bodyPr wrap="square" lIns="0" tIns="0" rIns="0" bIns="0" rtlCol="0" anchor="ctr"/>
          <a:lstStyle/>
          <a:p>
            <a:pPr algn="ctr" indent="0" marL="0">
              <a:buNone/>
            </a:pPr>
            <a:r>
              <a:rPr lang="en-US" sz="1100" dirty="0">
                <a:solidFill>
                  <a:schemeClr val="accent6"/>
                </a:solidFill>
              </a:rPr>
              <a:t>Med</a:t>
            </a:r>
            <a:endParaRPr lang="en-US" sz="1100" dirty="0"/>
          </a:p>
        </p:txBody>
      </p:sp>
      <p:sp>
        <p:nvSpPr>
          <p:cNvPr id="22" name="Text 20"/>
          <p:cNvSpPr txBox="1"/>
          <p:nvPr/>
        </p:nvSpPr>
        <p:spPr>
          <a:xfrm>
            <a:off x="2880360" y="3977640"/>
            <a:ext cx="822960" cy="256032"/>
          </a:xfrm>
          <a:prstGeom prst="rect">
            <a:avLst/>
          </a:prstGeom>
          <a:noFill/>
          <a:ln/>
        </p:spPr>
        <p:txBody>
          <a:bodyPr wrap="square" lIns="0" tIns="0" rIns="0" bIns="0" rtlCol="0" anchor="ctr"/>
          <a:lstStyle/>
          <a:p>
            <a:pPr algn="ctr" indent="0" marL="0">
              <a:buNone/>
            </a:pPr>
            <a:r>
              <a:rPr lang="en-US" sz="1100" dirty="0">
                <a:solidFill>
                  <a:schemeClr val="accent6"/>
                </a:solidFill>
              </a:rPr>
              <a:t>High</a:t>
            </a:r>
            <a:endParaRPr lang="en-US" sz="1100" dirty="0"/>
          </a:p>
        </p:txBody>
      </p:sp>
      <p:sp>
        <p:nvSpPr>
          <p:cNvPr id="23" name="Text 21"/>
          <p:cNvSpPr txBox="1"/>
          <p:nvPr/>
        </p:nvSpPr>
        <p:spPr>
          <a:xfrm>
            <a:off x="1143000" y="4233672"/>
            <a:ext cx="2606040" cy="256032"/>
          </a:xfrm>
          <a:prstGeom prst="rect">
            <a:avLst/>
          </a:prstGeom>
          <a:noFill/>
          <a:ln/>
        </p:spPr>
        <p:txBody>
          <a:bodyPr wrap="square" lIns="0" tIns="0" rIns="0" bIns="0" rtlCol="0" anchor="ctr"/>
          <a:lstStyle/>
          <a:p>
            <a:pPr algn="ctr" indent="0" marL="0">
              <a:buNone/>
            </a:pPr>
            <a:r>
              <a:rPr lang="en-US" sz="1100" b="1" dirty="0">
                <a:solidFill>
                  <a:schemeClr val="tx2"/>
                </a:solidFill>
              </a:rPr>
              <a:t>Probability</a:t>
            </a:r>
            <a:endParaRPr lang="en-US" sz="1100" dirty="0"/>
          </a:p>
        </p:txBody>
      </p:sp>
      <p:sp>
        <p:nvSpPr>
          <p:cNvPr id="24" name="Text 22"/>
          <p:cNvSpPr txBox="1"/>
          <p:nvPr/>
        </p:nvSpPr>
        <p:spPr>
          <a:xfrm>
            <a:off x="457200" y="1078992"/>
            <a:ext cx="640080" cy="256032"/>
          </a:xfrm>
          <a:prstGeom prst="rect">
            <a:avLst/>
          </a:prstGeom>
          <a:noFill/>
          <a:ln/>
        </p:spPr>
        <p:txBody>
          <a:bodyPr wrap="square" lIns="0" tIns="0" rIns="0" bIns="0" rtlCol="0" anchor="ctr"/>
          <a:lstStyle/>
          <a:p>
            <a:pPr algn="r" indent="0" marL="0">
              <a:buNone/>
            </a:pPr>
            <a:r>
              <a:rPr lang="en-US" sz="1100" b="1" dirty="0">
                <a:solidFill>
                  <a:schemeClr val="tx2"/>
                </a:solidFill>
              </a:rPr>
              <a:t>Impact</a:t>
            </a:r>
            <a:endParaRPr lang="en-US" sz="1100" dirty="0"/>
          </a:p>
        </p:txBody>
      </p:sp>
      <p:sp>
        <p:nvSpPr>
          <p:cNvPr id="25" name="Text 23"/>
          <p:cNvSpPr txBox="1"/>
          <p:nvPr/>
        </p:nvSpPr>
        <p:spPr>
          <a:xfrm>
            <a:off x="4480560" y="1371600"/>
            <a:ext cx="4206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R1 Ibadan Deficit (High/High)</a:t>
            </a:r>
            <a:endParaRPr lang="en-US" sz="1600" dirty="0"/>
          </a:p>
          <a:p>
            <a:pPr marL="342900" indent="-342900">
              <a:spcAft>
                <a:spcPts val="800"/>
              </a:spcAft>
              <a:buSzPct val="100000"/>
              <a:buChar char="•"/>
            </a:pPr>
            <a:r>
              <a:rPr lang="en-US" sz="1600" dirty="0">
                <a:solidFill>
                  <a:schemeClr val="tx1"/>
                </a:solidFill>
              </a:rPr>
              <a:t>R2 Revenue Conflict (High/Medium)</a:t>
            </a:r>
            <a:endParaRPr lang="en-US" sz="1600" dirty="0"/>
          </a:p>
          <a:p>
            <a:pPr marL="342900" indent="-342900">
              <a:spcAft>
                <a:spcPts val="800"/>
              </a:spcAft>
              <a:buSzPct val="100000"/>
              <a:buChar char="•"/>
            </a:pPr>
            <a:r>
              <a:rPr lang="en-US" sz="1600" dirty="0">
                <a:solidFill>
                  <a:schemeClr val="tx1"/>
                </a:solidFill>
              </a:rPr>
              <a:t>R3 Cancelled shipments (High/High)</a:t>
            </a:r>
            <a:endParaRPr lang="en-US" sz="1600" dirty="0"/>
          </a:p>
          <a:p>
            <a:pPr marL="342900" indent="-342900">
              <a:spcAft>
                <a:spcPts val="800"/>
              </a:spcAft>
              <a:buSzPct val="100000"/>
              <a:buChar char="•"/>
            </a:pPr>
            <a:r>
              <a:rPr lang="en-US" sz="1600" dirty="0">
                <a:solidFill>
                  <a:schemeClr val="tx1"/>
                </a:solidFill>
              </a:rPr>
              <a:t>R4 Supplier data gap (High/High)</a:t>
            </a:r>
            <a:endParaRPr lang="en-US" sz="1600" dirty="0"/>
          </a:p>
          <a:p>
            <a:pPr marL="342900" indent="-342900">
              <a:spcAft>
                <a:spcPts val="800"/>
              </a:spcAft>
              <a:buSzPct val="100000"/>
              <a:buChar char="•"/>
            </a:pPr>
            <a:r>
              <a:rPr lang="en-US" sz="1600" dirty="0">
                <a:solidFill>
                  <a:schemeClr val="tx1"/>
                </a:solidFill>
              </a:rPr>
              <a:t>R5 ML misalignment (Medium/Medium)</a:t>
            </a:r>
            <a:endParaRPr lang="en-US" sz="1600" dirty="0"/>
          </a:p>
        </p:txBody>
      </p:sp>
      <p:sp>
        <p:nvSpPr>
          <p:cNvPr id="26" name="Text 24"/>
          <p:cNvSpPr txBox="1"/>
          <p:nvPr/>
        </p:nvSpPr>
        <p:spPr>
          <a:xfrm>
            <a:off x="4480560" y="3794760"/>
            <a:ext cx="4206240" cy="548640"/>
          </a:xfrm>
          <a:prstGeom prst="rect">
            <a:avLst/>
          </a:prstGeom>
          <a:noFill/>
          <a:ln/>
        </p:spPr>
        <p:txBody>
          <a:bodyPr wrap="square" lIns="0" tIns="0" rIns="0" bIns="0" rtlCol="0" anchor="t"/>
          <a:lstStyle/>
          <a:p>
            <a:pPr indent="0" marL="0">
              <a:buNone/>
            </a:pPr>
            <a:r>
              <a:rPr lang="en-US" sz="1300" i="1" dirty="0">
                <a:solidFill>
                  <a:schemeClr val="accent6"/>
                </a:solidFill>
              </a:rPr>
              <a:t>Full 10-risk register is in the Excel workbook.</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Governance structure</a:t>
            </a:r>
            <a:endParaRPr lang="en-US" sz="3200" dirty="0"/>
          </a:p>
        </p:txBody>
      </p:sp>
      <p:sp>
        <p:nvSpPr>
          <p:cNvPr id="3" name="Shape 1"/>
          <p:cNvSpPr/>
          <p:nvPr/>
        </p:nvSpPr>
        <p:spPr>
          <a:xfrm>
            <a:off x="3429000" y="1234440"/>
            <a:ext cx="2286000" cy="594360"/>
          </a:xfrm>
          <a:prstGeom prst="roundRect">
            <a:avLst>
              <a:gd name="adj" fmla="val 15385"/>
            </a:avLst>
          </a:prstGeom>
          <a:solidFill>
            <a:schemeClr val="accent2"/>
          </a:solidFill>
          <a:ln w="12700">
            <a:solidFill>
              <a:schemeClr val="accent2"/>
            </a:solidFill>
            <a:prstDash val="solid"/>
          </a:ln>
        </p:spPr>
      </p:sp>
      <p:sp>
        <p:nvSpPr>
          <p:cNvPr id="4" name="Text 2"/>
          <p:cNvSpPr txBox="1"/>
          <p:nvPr/>
        </p:nvSpPr>
        <p:spPr>
          <a:xfrm>
            <a:off x="3429000" y="1234440"/>
            <a:ext cx="2286000" cy="594360"/>
          </a:xfrm>
          <a:prstGeom prst="rect">
            <a:avLst/>
          </a:prstGeom>
          <a:noFill/>
          <a:ln/>
        </p:spPr>
        <p:txBody>
          <a:bodyPr wrap="square" lIns="0" tIns="0" rIns="0" bIns="0" rtlCol="0" anchor="ctr"/>
          <a:lstStyle/>
          <a:p>
            <a:pPr algn="ctr" indent="0" marL="0">
              <a:buNone/>
            </a:pPr>
            <a:r>
              <a:rPr lang="en-US" sz="1400" b="1" dirty="0">
                <a:solidFill>
                  <a:schemeClr val="bg1"/>
                </a:solidFill>
              </a:rPr>
              <a:t>Sponsor: AnalystLab Africa</a:t>
            </a:r>
            <a:endParaRPr lang="en-US" sz="1400" dirty="0"/>
          </a:p>
        </p:txBody>
      </p:sp>
      <p:sp>
        <p:nvSpPr>
          <p:cNvPr id="5" name="Shape 3"/>
          <p:cNvSpPr/>
          <p:nvPr/>
        </p:nvSpPr>
        <p:spPr>
          <a:xfrm>
            <a:off x="3429000" y="2240280"/>
            <a:ext cx="2286000" cy="594360"/>
          </a:xfrm>
          <a:prstGeom prst="roundRect">
            <a:avLst>
              <a:gd name="adj" fmla="val 15385"/>
            </a:avLst>
          </a:prstGeom>
          <a:solidFill>
            <a:schemeClr val="accent1"/>
          </a:solidFill>
          <a:ln w="12700">
            <a:solidFill>
              <a:schemeClr val="accent1"/>
            </a:solidFill>
            <a:prstDash val="solid"/>
          </a:ln>
        </p:spPr>
      </p:sp>
      <p:sp>
        <p:nvSpPr>
          <p:cNvPr id="6" name="Text 4"/>
          <p:cNvSpPr txBox="1"/>
          <p:nvPr/>
        </p:nvSpPr>
        <p:spPr>
          <a:xfrm>
            <a:off x="3429000" y="2240280"/>
            <a:ext cx="2286000" cy="594360"/>
          </a:xfrm>
          <a:prstGeom prst="rect">
            <a:avLst/>
          </a:prstGeom>
          <a:noFill/>
          <a:ln/>
        </p:spPr>
        <p:txBody>
          <a:bodyPr wrap="square" lIns="0" tIns="0" rIns="0" bIns="0" rtlCol="0" anchor="ctr"/>
          <a:lstStyle/>
          <a:p>
            <a:pPr algn="ctr" indent="0" marL="0">
              <a:buNone/>
            </a:pPr>
            <a:r>
              <a:rPr lang="en-US" sz="1400" b="1" dirty="0">
                <a:solidFill>
                  <a:schemeClr val="tx1"/>
                </a:solidFill>
              </a:rPr>
              <a:t>PM: Lamiaa Samraoui</a:t>
            </a:r>
            <a:endParaRPr lang="en-US" sz="1400" dirty="0"/>
          </a:p>
        </p:txBody>
      </p:sp>
      <p:sp>
        <p:nvSpPr>
          <p:cNvPr id="7" name="Shape 5"/>
          <p:cNvSpPr/>
          <p:nvPr/>
        </p:nvSpPr>
        <p:spPr>
          <a:xfrm>
            <a:off x="4572000" y="1828800"/>
            <a:ext cx="0" cy="411480"/>
          </a:xfrm>
          <a:prstGeom prst="line">
            <a:avLst/>
          </a:prstGeom>
          <a:noFill/>
          <a:ln w="25400">
            <a:solidFill>
              <a:schemeClr val="accent6"/>
            </a:solidFill>
            <a:prstDash val="solid"/>
          </a:ln>
        </p:spPr>
      </p:sp>
      <p:sp>
        <p:nvSpPr>
          <p:cNvPr id="8" name="Shape 6"/>
          <p:cNvSpPr/>
          <p:nvPr/>
        </p:nvSpPr>
        <p:spPr>
          <a:xfrm>
            <a:off x="4572000" y="2834640"/>
            <a:ext cx="0" cy="320040"/>
          </a:xfrm>
          <a:prstGeom prst="line">
            <a:avLst/>
          </a:prstGeom>
          <a:noFill/>
          <a:ln w="25400">
            <a:solidFill>
              <a:schemeClr val="accent6"/>
            </a:solidFill>
            <a:prstDash val="solid"/>
          </a:ln>
        </p:spPr>
      </p:sp>
      <p:sp>
        <p:nvSpPr>
          <p:cNvPr id="9" name="Shape 7"/>
          <p:cNvSpPr/>
          <p:nvPr/>
        </p:nvSpPr>
        <p:spPr>
          <a:xfrm>
            <a:off x="1188720" y="3154680"/>
            <a:ext cx="6766560" cy="0"/>
          </a:xfrm>
          <a:prstGeom prst="line">
            <a:avLst/>
          </a:prstGeom>
          <a:noFill/>
          <a:ln w="25400">
            <a:solidFill>
              <a:schemeClr val="accent6"/>
            </a:solidFill>
            <a:prstDash val="solid"/>
          </a:ln>
        </p:spPr>
      </p:sp>
      <p:sp>
        <p:nvSpPr>
          <p:cNvPr id="10" name="Shape 8"/>
          <p:cNvSpPr/>
          <p:nvPr/>
        </p:nvSpPr>
        <p:spPr>
          <a:xfrm>
            <a:off x="1188720" y="3154680"/>
            <a:ext cx="0" cy="274320"/>
          </a:xfrm>
          <a:prstGeom prst="line">
            <a:avLst/>
          </a:prstGeom>
          <a:noFill/>
          <a:ln w="25400">
            <a:solidFill>
              <a:schemeClr val="accent6"/>
            </a:solidFill>
            <a:prstDash val="solid"/>
          </a:ln>
        </p:spPr>
      </p:sp>
      <p:sp>
        <p:nvSpPr>
          <p:cNvPr id="11" name="Shape 9"/>
          <p:cNvSpPr/>
          <p:nvPr/>
        </p:nvSpPr>
        <p:spPr>
          <a:xfrm>
            <a:off x="457200" y="3429000"/>
            <a:ext cx="1463040" cy="594360"/>
          </a:xfrm>
          <a:prstGeom prst="roundRect">
            <a:avLst>
              <a:gd name="adj" fmla="val 15385"/>
            </a:avLst>
          </a:prstGeom>
          <a:solidFill>
            <a:schemeClr val="accent5"/>
          </a:solidFill>
          <a:ln w="12700">
            <a:solidFill>
              <a:schemeClr val="accent5"/>
            </a:solidFill>
            <a:prstDash val="solid"/>
          </a:ln>
        </p:spPr>
      </p:sp>
      <p:sp>
        <p:nvSpPr>
          <p:cNvPr id="12" name="Text 10"/>
          <p:cNvSpPr txBox="1"/>
          <p:nvPr/>
        </p:nvSpPr>
        <p:spPr>
          <a:xfrm>
            <a:off x="457200" y="3429000"/>
            <a:ext cx="1463040" cy="594360"/>
          </a:xfrm>
          <a:prstGeom prst="rect">
            <a:avLst/>
          </a:prstGeom>
          <a:noFill/>
          <a:ln/>
        </p:spPr>
        <p:txBody>
          <a:bodyPr wrap="square" lIns="0" tIns="0" rIns="0" bIns="0" rtlCol="0" anchor="ctr"/>
          <a:lstStyle/>
          <a:p>
            <a:pPr algn="ctr" indent="0" marL="0">
              <a:buNone/>
            </a:pPr>
            <a:r>
              <a:rPr lang="en-US" sz="1400" b="1" dirty="0">
                <a:solidFill>
                  <a:schemeClr val="bg1"/>
                </a:solidFill>
              </a:rPr>
              <a:t>DA Lead</a:t>
            </a:r>
            <a:endParaRPr lang="en-US" sz="1400" dirty="0"/>
          </a:p>
        </p:txBody>
      </p:sp>
      <p:sp>
        <p:nvSpPr>
          <p:cNvPr id="13" name="Shape 11"/>
          <p:cNvSpPr/>
          <p:nvPr/>
        </p:nvSpPr>
        <p:spPr>
          <a:xfrm>
            <a:off x="3337560" y="3154680"/>
            <a:ext cx="0" cy="274320"/>
          </a:xfrm>
          <a:prstGeom prst="line">
            <a:avLst/>
          </a:prstGeom>
          <a:noFill/>
          <a:ln w="25400">
            <a:solidFill>
              <a:schemeClr val="accent6"/>
            </a:solidFill>
            <a:prstDash val="solid"/>
          </a:ln>
        </p:spPr>
      </p:sp>
      <p:sp>
        <p:nvSpPr>
          <p:cNvPr id="14" name="Shape 12"/>
          <p:cNvSpPr/>
          <p:nvPr/>
        </p:nvSpPr>
        <p:spPr>
          <a:xfrm>
            <a:off x="2606040" y="3429000"/>
            <a:ext cx="1463040" cy="594360"/>
          </a:xfrm>
          <a:prstGeom prst="roundRect">
            <a:avLst>
              <a:gd name="adj" fmla="val 15385"/>
            </a:avLst>
          </a:prstGeom>
          <a:solidFill>
            <a:schemeClr val="accent5"/>
          </a:solidFill>
          <a:ln w="12700">
            <a:solidFill>
              <a:schemeClr val="accent5"/>
            </a:solidFill>
            <a:prstDash val="solid"/>
          </a:ln>
        </p:spPr>
      </p:sp>
      <p:sp>
        <p:nvSpPr>
          <p:cNvPr id="15" name="Text 13"/>
          <p:cNvSpPr txBox="1"/>
          <p:nvPr/>
        </p:nvSpPr>
        <p:spPr>
          <a:xfrm>
            <a:off x="2606040" y="3429000"/>
            <a:ext cx="1463040" cy="594360"/>
          </a:xfrm>
          <a:prstGeom prst="rect">
            <a:avLst/>
          </a:prstGeom>
          <a:noFill/>
          <a:ln/>
        </p:spPr>
        <p:txBody>
          <a:bodyPr wrap="square" lIns="0" tIns="0" rIns="0" bIns="0" rtlCol="0" anchor="ctr"/>
          <a:lstStyle/>
          <a:p>
            <a:pPr algn="ctr" indent="0" marL="0">
              <a:buNone/>
            </a:pPr>
            <a:r>
              <a:rPr lang="en-US" sz="1400" b="1" dirty="0">
                <a:solidFill>
                  <a:schemeClr val="bg1"/>
                </a:solidFill>
              </a:rPr>
              <a:t>DS Lead</a:t>
            </a:r>
            <a:endParaRPr lang="en-US" sz="1400" dirty="0"/>
          </a:p>
        </p:txBody>
      </p:sp>
      <p:sp>
        <p:nvSpPr>
          <p:cNvPr id="16" name="Shape 14"/>
          <p:cNvSpPr/>
          <p:nvPr/>
        </p:nvSpPr>
        <p:spPr>
          <a:xfrm>
            <a:off x="5486400" y="3154680"/>
            <a:ext cx="0" cy="274320"/>
          </a:xfrm>
          <a:prstGeom prst="line">
            <a:avLst/>
          </a:prstGeom>
          <a:noFill/>
          <a:ln w="25400">
            <a:solidFill>
              <a:schemeClr val="accent6"/>
            </a:solidFill>
            <a:prstDash val="solid"/>
          </a:ln>
        </p:spPr>
      </p:sp>
      <p:sp>
        <p:nvSpPr>
          <p:cNvPr id="17" name="Shape 15"/>
          <p:cNvSpPr/>
          <p:nvPr/>
        </p:nvSpPr>
        <p:spPr>
          <a:xfrm>
            <a:off x="4754880" y="3429000"/>
            <a:ext cx="1463040" cy="594360"/>
          </a:xfrm>
          <a:prstGeom prst="roundRect">
            <a:avLst>
              <a:gd name="adj" fmla="val 15385"/>
            </a:avLst>
          </a:prstGeom>
          <a:solidFill>
            <a:schemeClr val="accent5"/>
          </a:solidFill>
          <a:ln w="12700">
            <a:solidFill>
              <a:schemeClr val="accent5"/>
            </a:solidFill>
            <a:prstDash val="solid"/>
          </a:ln>
        </p:spPr>
      </p:sp>
      <p:sp>
        <p:nvSpPr>
          <p:cNvPr id="18" name="Text 16"/>
          <p:cNvSpPr txBox="1"/>
          <p:nvPr/>
        </p:nvSpPr>
        <p:spPr>
          <a:xfrm>
            <a:off x="4754880" y="3429000"/>
            <a:ext cx="1463040" cy="594360"/>
          </a:xfrm>
          <a:prstGeom prst="rect">
            <a:avLst/>
          </a:prstGeom>
          <a:noFill/>
          <a:ln/>
        </p:spPr>
        <p:txBody>
          <a:bodyPr wrap="square" lIns="0" tIns="0" rIns="0" bIns="0" rtlCol="0" anchor="ctr"/>
          <a:lstStyle/>
          <a:p>
            <a:pPr algn="ctr" indent="0" marL="0">
              <a:buNone/>
            </a:pPr>
            <a:r>
              <a:rPr lang="en-US" sz="1400" b="1" dirty="0">
                <a:solidFill>
                  <a:schemeClr val="bg1"/>
                </a:solidFill>
              </a:rPr>
              <a:t>ML Lead</a:t>
            </a:r>
            <a:endParaRPr lang="en-US" sz="1400" dirty="0"/>
          </a:p>
        </p:txBody>
      </p:sp>
      <p:sp>
        <p:nvSpPr>
          <p:cNvPr id="19" name="Shape 17"/>
          <p:cNvSpPr/>
          <p:nvPr/>
        </p:nvSpPr>
        <p:spPr>
          <a:xfrm>
            <a:off x="7635240" y="3154680"/>
            <a:ext cx="0" cy="274320"/>
          </a:xfrm>
          <a:prstGeom prst="line">
            <a:avLst/>
          </a:prstGeom>
          <a:noFill/>
          <a:ln w="25400">
            <a:solidFill>
              <a:schemeClr val="accent6"/>
            </a:solidFill>
            <a:prstDash val="solid"/>
          </a:ln>
        </p:spPr>
      </p:sp>
      <p:sp>
        <p:nvSpPr>
          <p:cNvPr id="20" name="Shape 18"/>
          <p:cNvSpPr/>
          <p:nvPr/>
        </p:nvSpPr>
        <p:spPr>
          <a:xfrm>
            <a:off x="6903720" y="3429000"/>
            <a:ext cx="1463040" cy="594360"/>
          </a:xfrm>
          <a:prstGeom prst="roundRect">
            <a:avLst>
              <a:gd name="adj" fmla="val 15385"/>
            </a:avLst>
          </a:prstGeom>
          <a:solidFill>
            <a:schemeClr val="accent5"/>
          </a:solidFill>
          <a:ln w="12700">
            <a:solidFill>
              <a:schemeClr val="accent5"/>
            </a:solidFill>
            <a:prstDash val="solid"/>
          </a:ln>
        </p:spPr>
      </p:sp>
      <p:sp>
        <p:nvSpPr>
          <p:cNvPr id="21" name="Text 19"/>
          <p:cNvSpPr txBox="1"/>
          <p:nvPr/>
        </p:nvSpPr>
        <p:spPr>
          <a:xfrm>
            <a:off x="6903720" y="3429000"/>
            <a:ext cx="1463040" cy="594360"/>
          </a:xfrm>
          <a:prstGeom prst="rect">
            <a:avLst/>
          </a:prstGeom>
          <a:noFill/>
          <a:ln/>
        </p:spPr>
        <p:txBody>
          <a:bodyPr wrap="square" lIns="0" tIns="0" rIns="0" bIns="0" rtlCol="0" anchor="ctr"/>
          <a:lstStyle/>
          <a:p>
            <a:pPr algn="ctr" indent="0" marL="0">
              <a:buNone/>
            </a:pPr>
            <a:r>
              <a:rPr lang="en-US" sz="1400" b="1" dirty="0">
                <a:solidFill>
                  <a:schemeClr val="bg1"/>
                </a:solidFill>
              </a:rPr>
              <a:t>GenAI Lead</a:t>
            </a:r>
            <a:endParaRPr lang="en-US" sz="1400" dirty="0"/>
          </a:p>
        </p:txBody>
      </p:sp>
      <p:sp>
        <p:nvSpPr>
          <p:cNvPr id="22" name="Text 20"/>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400" dirty="0">
                <a:solidFill>
                  <a:schemeClr val="tx1"/>
                </a:solidFill>
              </a:rPr>
              <a:t>Escalation: lead, then PM, then Sponsor.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Stakeholder engagement</a:t>
            </a:r>
            <a:endParaRPr lang="en-US" sz="3200" dirty="0"/>
          </a:p>
        </p:txBody>
      </p:sp>
      <p:sp>
        <p:nvSpPr>
          <p:cNvPr id="3" name="Shape 1"/>
          <p:cNvSpPr/>
          <p:nvPr/>
        </p:nvSpPr>
        <p:spPr>
          <a:xfrm>
            <a:off x="731520" y="1234440"/>
            <a:ext cx="3291840" cy="1463040"/>
          </a:xfrm>
          <a:prstGeom prst="roundRect">
            <a:avLst>
              <a:gd name="adj" fmla="val 6250"/>
            </a:avLst>
          </a:prstGeom>
          <a:solidFill>
            <a:schemeClr val="bg2"/>
          </a:solidFill>
          <a:ln w="12700">
            <a:solidFill>
              <a:schemeClr val="bg2"/>
            </a:solidFill>
            <a:prstDash val="solid"/>
          </a:ln>
        </p:spPr>
      </p:sp>
      <p:sp>
        <p:nvSpPr>
          <p:cNvPr id="4" name="Text 2"/>
          <p:cNvSpPr txBox="1"/>
          <p:nvPr/>
        </p:nvSpPr>
        <p:spPr>
          <a:xfrm>
            <a:off x="914400" y="1417320"/>
            <a:ext cx="2926080" cy="41148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Keep satisfied</a:t>
            </a:r>
            <a:endParaRPr lang="en-US" sz="1800" dirty="0"/>
          </a:p>
        </p:txBody>
      </p:sp>
      <p:sp>
        <p:nvSpPr>
          <p:cNvPr id="5" name="Shape 3"/>
          <p:cNvSpPr/>
          <p:nvPr/>
        </p:nvSpPr>
        <p:spPr>
          <a:xfrm>
            <a:off x="4114800" y="1234440"/>
            <a:ext cx="3291840" cy="1463040"/>
          </a:xfrm>
          <a:prstGeom prst="roundRect">
            <a:avLst>
              <a:gd name="adj" fmla="val 6250"/>
            </a:avLst>
          </a:prstGeom>
          <a:solidFill>
            <a:schemeClr val="accent1"/>
          </a:solidFill>
          <a:ln w="12700">
            <a:solidFill>
              <a:schemeClr val="accent1"/>
            </a:solidFill>
            <a:prstDash val="solid"/>
          </a:ln>
        </p:spPr>
      </p:sp>
      <p:sp>
        <p:nvSpPr>
          <p:cNvPr id="6" name="Text 4"/>
          <p:cNvSpPr txBox="1"/>
          <p:nvPr/>
        </p:nvSpPr>
        <p:spPr>
          <a:xfrm>
            <a:off x="4297680" y="1417320"/>
            <a:ext cx="292608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Manage closely</a:t>
            </a:r>
            <a:endParaRPr lang="en-US" sz="1800" dirty="0"/>
          </a:p>
        </p:txBody>
      </p:sp>
      <p:sp>
        <p:nvSpPr>
          <p:cNvPr id="7" name="Text 5"/>
          <p:cNvSpPr txBox="1"/>
          <p:nvPr/>
        </p:nvSpPr>
        <p:spPr>
          <a:xfrm>
            <a:off x="4297680" y="1965960"/>
            <a:ext cx="2926080" cy="548640"/>
          </a:xfrm>
          <a:prstGeom prst="rect">
            <a:avLst/>
          </a:prstGeom>
          <a:noFill/>
          <a:ln/>
        </p:spPr>
        <p:txBody>
          <a:bodyPr wrap="square" lIns="0" tIns="0" rIns="0" bIns="0" rtlCol="0" anchor="t"/>
          <a:lstStyle/>
          <a:p>
            <a:pPr indent="0" marL="0">
              <a:buNone/>
            </a:pPr>
            <a:r>
              <a:rPr lang="en-US" sz="1500" dirty="0">
                <a:solidFill>
                  <a:schemeClr val="tx1"/>
                </a:solidFill>
              </a:rPr>
              <a:t>SwiftLog Management, Sponsor</a:t>
            </a:r>
            <a:endParaRPr lang="en-US" sz="1500" dirty="0"/>
          </a:p>
        </p:txBody>
      </p:sp>
      <p:sp>
        <p:nvSpPr>
          <p:cNvPr id="8" name="Shape 6"/>
          <p:cNvSpPr/>
          <p:nvPr/>
        </p:nvSpPr>
        <p:spPr>
          <a:xfrm>
            <a:off x="731520" y="2788920"/>
            <a:ext cx="3291840" cy="1463040"/>
          </a:xfrm>
          <a:prstGeom prst="roundRect">
            <a:avLst>
              <a:gd name="adj" fmla="val 6250"/>
            </a:avLst>
          </a:prstGeom>
          <a:solidFill>
            <a:schemeClr val="bg2"/>
          </a:solidFill>
          <a:ln w="12700">
            <a:solidFill>
              <a:schemeClr val="bg2"/>
            </a:solidFill>
            <a:prstDash val="solid"/>
          </a:ln>
        </p:spPr>
      </p:sp>
      <p:sp>
        <p:nvSpPr>
          <p:cNvPr id="9" name="Text 7"/>
          <p:cNvSpPr txBox="1"/>
          <p:nvPr/>
        </p:nvSpPr>
        <p:spPr>
          <a:xfrm>
            <a:off x="914400" y="2971800"/>
            <a:ext cx="2926080" cy="41148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Monitor</a:t>
            </a:r>
            <a:endParaRPr lang="en-US" sz="1800" dirty="0"/>
          </a:p>
        </p:txBody>
      </p:sp>
      <p:sp>
        <p:nvSpPr>
          <p:cNvPr id="10" name="Shape 8"/>
          <p:cNvSpPr/>
          <p:nvPr/>
        </p:nvSpPr>
        <p:spPr>
          <a:xfrm>
            <a:off x="4114800" y="2788920"/>
            <a:ext cx="3291840" cy="1463040"/>
          </a:xfrm>
          <a:prstGeom prst="roundRect">
            <a:avLst>
              <a:gd name="adj" fmla="val 6250"/>
            </a:avLst>
          </a:prstGeom>
          <a:solidFill>
            <a:schemeClr val="accent5"/>
          </a:solidFill>
          <a:ln w="12700">
            <a:solidFill>
              <a:schemeClr val="accent5"/>
            </a:solidFill>
            <a:prstDash val="solid"/>
          </a:ln>
        </p:spPr>
      </p:sp>
      <p:sp>
        <p:nvSpPr>
          <p:cNvPr id="11" name="Text 9"/>
          <p:cNvSpPr txBox="1"/>
          <p:nvPr/>
        </p:nvSpPr>
        <p:spPr>
          <a:xfrm>
            <a:off x="4297680" y="2971800"/>
            <a:ext cx="292608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Keep informed</a:t>
            </a:r>
            <a:endParaRPr lang="en-US" sz="1800" dirty="0"/>
          </a:p>
        </p:txBody>
      </p:sp>
      <p:sp>
        <p:nvSpPr>
          <p:cNvPr id="12" name="Text 10"/>
          <p:cNvSpPr txBox="1"/>
          <p:nvPr/>
        </p:nvSpPr>
        <p:spPr>
          <a:xfrm>
            <a:off x="4297680" y="3520440"/>
            <a:ext cx="2926080" cy="548640"/>
          </a:xfrm>
          <a:prstGeom prst="rect">
            <a:avLst/>
          </a:prstGeom>
          <a:noFill/>
          <a:ln/>
        </p:spPr>
        <p:txBody>
          <a:bodyPr wrap="square" lIns="0" tIns="0" rIns="0" bIns="0" rtlCol="0" anchor="t"/>
          <a:lstStyle/>
          <a:p>
            <a:pPr indent="0" marL="0">
              <a:buNone/>
            </a:pPr>
            <a:r>
              <a:rPr lang="en-US" sz="1500" dirty="0">
                <a:solidFill>
                  <a:schemeClr val="bg1"/>
                </a:solidFill>
              </a:rPr>
              <a:t>DA, DS, ML, GenAI leads</a:t>
            </a:r>
            <a:endParaRPr lang="en-US" sz="1500" dirty="0"/>
          </a:p>
        </p:txBody>
      </p:sp>
      <p:sp>
        <p:nvSpPr>
          <p:cNvPr id="13" name="Text 11"/>
          <p:cNvSpPr txBox="1"/>
          <p:nvPr/>
        </p:nvSpPr>
        <p:spPr>
          <a:xfrm>
            <a:off x="731520" y="4434840"/>
            <a:ext cx="7589520" cy="274320"/>
          </a:xfrm>
          <a:prstGeom prst="rect">
            <a:avLst/>
          </a:prstGeom>
          <a:noFill/>
          <a:ln/>
        </p:spPr>
        <p:txBody>
          <a:bodyPr wrap="square" lIns="0" tIns="0" rIns="0" bIns="0" rtlCol="0" anchor="ctr"/>
          <a:lstStyle/>
          <a:p>
            <a:pPr indent="0" marL="0">
              <a:buNone/>
            </a:pPr>
            <a:r>
              <a:rPr lang="en-US" sz="1100" dirty="0">
                <a:solidFill>
                  <a:schemeClr val="accent6"/>
                </a:solidFill>
              </a:rPr>
              <a:t>Vertical: power (low to high going up). Horizontal: interest (low to high going right).</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Monitoring and control dashboard</a:t>
            </a:r>
            <a:endParaRPr lang="en-US" sz="3200" dirty="0"/>
          </a:p>
        </p:txBody>
      </p:sp>
      <p:sp>
        <p:nvSpPr>
          <p:cNvPr id="3" name="Shape 1"/>
          <p:cNvSpPr/>
          <p:nvPr/>
        </p:nvSpPr>
        <p:spPr>
          <a:xfrm>
            <a:off x="457200" y="1280160"/>
            <a:ext cx="1965960" cy="1554480"/>
          </a:xfrm>
          <a:prstGeom prst="roundRect">
            <a:avLst>
              <a:gd name="adj" fmla="val 5882"/>
            </a:avLst>
          </a:prstGeom>
          <a:solidFill>
            <a:schemeClr val="bg2"/>
          </a:solidFill>
          <a:ln w="12700">
            <a:solidFill>
              <a:schemeClr val="bg2"/>
            </a:solidFill>
            <a:prstDash val="solid"/>
          </a:ln>
        </p:spPr>
      </p:sp>
      <p:sp>
        <p:nvSpPr>
          <p:cNvPr id="4" name="Text 2"/>
          <p:cNvSpPr txBox="1"/>
          <p:nvPr/>
        </p:nvSpPr>
        <p:spPr>
          <a:xfrm>
            <a:off x="594360" y="1371600"/>
            <a:ext cx="173736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24/24</a:t>
            </a:r>
            <a:endParaRPr lang="en-US" sz="3400" dirty="0"/>
          </a:p>
        </p:txBody>
      </p:sp>
      <p:sp>
        <p:nvSpPr>
          <p:cNvPr id="5" name="Text 3"/>
          <p:cNvSpPr txBox="1"/>
          <p:nvPr/>
        </p:nvSpPr>
        <p:spPr>
          <a:xfrm>
            <a:off x="594360" y="2194560"/>
            <a:ext cx="1737360" cy="457200"/>
          </a:xfrm>
          <a:prstGeom prst="rect">
            <a:avLst/>
          </a:prstGeom>
          <a:noFill/>
          <a:ln/>
        </p:spPr>
        <p:txBody>
          <a:bodyPr wrap="square" lIns="0" tIns="0" rIns="0" bIns="0" rtlCol="0" anchor="t"/>
          <a:lstStyle/>
          <a:p>
            <a:pPr indent="0" marL="0">
              <a:buNone/>
            </a:pPr>
            <a:r>
              <a:rPr lang="en-US" sz="1400" dirty="0">
                <a:solidFill>
                  <a:schemeClr val="tx1"/>
                </a:solidFill>
              </a:rPr>
              <a:t>Pytests passing</a:t>
            </a:r>
            <a:endParaRPr lang="en-US" sz="1400" dirty="0"/>
          </a:p>
        </p:txBody>
      </p:sp>
      <p:sp>
        <p:nvSpPr>
          <p:cNvPr id="6" name="Shape 4"/>
          <p:cNvSpPr/>
          <p:nvPr/>
        </p:nvSpPr>
        <p:spPr>
          <a:xfrm>
            <a:off x="2560320" y="1280160"/>
            <a:ext cx="1965960" cy="1554480"/>
          </a:xfrm>
          <a:prstGeom prst="roundRect">
            <a:avLst>
              <a:gd name="adj" fmla="val 5882"/>
            </a:avLst>
          </a:prstGeom>
          <a:solidFill>
            <a:schemeClr val="bg2"/>
          </a:solidFill>
          <a:ln w="12700">
            <a:solidFill>
              <a:schemeClr val="bg2"/>
            </a:solidFill>
            <a:prstDash val="solid"/>
          </a:ln>
        </p:spPr>
      </p:sp>
      <p:sp>
        <p:nvSpPr>
          <p:cNvPr id="7" name="Text 5"/>
          <p:cNvSpPr txBox="1"/>
          <p:nvPr/>
        </p:nvSpPr>
        <p:spPr>
          <a:xfrm>
            <a:off x="2697480" y="1371600"/>
            <a:ext cx="173736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$19.1M</a:t>
            </a:r>
            <a:endParaRPr lang="en-US" sz="3400" dirty="0"/>
          </a:p>
        </p:txBody>
      </p:sp>
      <p:sp>
        <p:nvSpPr>
          <p:cNvPr id="8" name="Text 6"/>
          <p:cNvSpPr txBox="1"/>
          <p:nvPr/>
        </p:nvSpPr>
        <p:spPr>
          <a:xfrm>
            <a:off x="2697480" y="2194560"/>
            <a:ext cx="1737360" cy="457200"/>
          </a:xfrm>
          <a:prstGeom prst="rect">
            <a:avLst/>
          </a:prstGeom>
          <a:noFill/>
          <a:ln/>
        </p:spPr>
        <p:txBody>
          <a:bodyPr wrap="square" lIns="0" tIns="0" rIns="0" bIns="0" rtlCol="0" anchor="t"/>
          <a:lstStyle/>
          <a:p>
            <a:pPr indent="0" marL="0">
              <a:buNone/>
            </a:pPr>
            <a:r>
              <a:rPr lang="en-US" sz="1400" dirty="0">
                <a:solidFill>
                  <a:schemeClr val="tx1"/>
                </a:solidFill>
              </a:rPr>
              <a:t>gross revenue</a:t>
            </a:r>
            <a:endParaRPr lang="en-US" sz="1400" dirty="0"/>
          </a:p>
        </p:txBody>
      </p:sp>
      <p:sp>
        <p:nvSpPr>
          <p:cNvPr id="9" name="Shape 7"/>
          <p:cNvSpPr/>
          <p:nvPr/>
        </p:nvSpPr>
        <p:spPr>
          <a:xfrm>
            <a:off x="4663440" y="1280160"/>
            <a:ext cx="1965960" cy="1554480"/>
          </a:xfrm>
          <a:prstGeom prst="roundRect">
            <a:avLst>
              <a:gd name="adj" fmla="val 5882"/>
            </a:avLst>
          </a:prstGeom>
          <a:solidFill>
            <a:schemeClr val="bg2"/>
          </a:solidFill>
          <a:ln w="12700">
            <a:solidFill>
              <a:schemeClr val="bg2"/>
            </a:solidFill>
            <a:prstDash val="solid"/>
          </a:ln>
        </p:spPr>
      </p:sp>
      <p:sp>
        <p:nvSpPr>
          <p:cNvPr id="10" name="Text 8"/>
          <p:cNvSpPr txBox="1"/>
          <p:nvPr/>
        </p:nvSpPr>
        <p:spPr>
          <a:xfrm>
            <a:off x="4800600" y="1371600"/>
            <a:ext cx="173736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63.7%</a:t>
            </a:r>
            <a:endParaRPr lang="en-US" sz="3400" dirty="0"/>
          </a:p>
        </p:txBody>
      </p:sp>
      <p:sp>
        <p:nvSpPr>
          <p:cNvPr id="11" name="Text 9"/>
          <p:cNvSpPr txBox="1"/>
          <p:nvPr/>
        </p:nvSpPr>
        <p:spPr>
          <a:xfrm>
            <a:off x="4800600" y="2194560"/>
            <a:ext cx="1737360" cy="457200"/>
          </a:xfrm>
          <a:prstGeom prst="rect">
            <a:avLst/>
          </a:prstGeom>
          <a:noFill/>
          <a:ln/>
        </p:spPr>
        <p:txBody>
          <a:bodyPr wrap="square" lIns="0" tIns="0" rIns="0" bIns="0" rtlCol="0" anchor="t"/>
          <a:lstStyle/>
          <a:p>
            <a:pPr indent="0" marL="0">
              <a:buNone/>
            </a:pPr>
            <a:r>
              <a:rPr lang="en-US" sz="1400" dirty="0">
                <a:solidFill>
                  <a:schemeClr val="tx1"/>
                </a:solidFill>
              </a:rPr>
              <a:t>delay rate</a:t>
            </a:r>
            <a:endParaRPr lang="en-US" sz="1400" dirty="0"/>
          </a:p>
        </p:txBody>
      </p:sp>
      <p:sp>
        <p:nvSpPr>
          <p:cNvPr id="12" name="Shape 10"/>
          <p:cNvSpPr/>
          <p:nvPr/>
        </p:nvSpPr>
        <p:spPr>
          <a:xfrm>
            <a:off x="6766560" y="1280160"/>
            <a:ext cx="1965960" cy="1554480"/>
          </a:xfrm>
          <a:prstGeom prst="roundRect">
            <a:avLst>
              <a:gd name="adj" fmla="val 5882"/>
            </a:avLst>
          </a:prstGeom>
          <a:solidFill>
            <a:schemeClr val="bg2"/>
          </a:solidFill>
          <a:ln w="12700">
            <a:solidFill>
              <a:schemeClr val="bg2"/>
            </a:solidFill>
            <a:prstDash val="solid"/>
          </a:ln>
        </p:spPr>
      </p:sp>
      <p:sp>
        <p:nvSpPr>
          <p:cNvPr id="13" name="Text 11"/>
          <p:cNvSpPr txBox="1"/>
          <p:nvPr/>
        </p:nvSpPr>
        <p:spPr>
          <a:xfrm>
            <a:off x="6903720" y="1371600"/>
            <a:ext cx="173736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0.9650</a:t>
            </a:r>
            <a:endParaRPr lang="en-US" sz="3400" dirty="0"/>
          </a:p>
        </p:txBody>
      </p:sp>
      <p:sp>
        <p:nvSpPr>
          <p:cNvPr id="14" name="Text 12"/>
          <p:cNvSpPr txBox="1"/>
          <p:nvPr/>
        </p:nvSpPr>
        <p:spPr>
          <a:xfrm>
            <a:off x="6903720" y="2194560"/>
            <a:ext cx="1737360" cy="457200"/>
          </a:xfrm>
          <a:prstGeom prst="rect">
            <a:avLst/>
          </a:prstGeom>
          <a:noFill/>
          <a:ln/>
        </p:spPr>
        <p:txBody>
          <a:bodyPr wrap="square" lIns="0" tIns="0" rIns="0" bIns="0" rtlCol="0" anchor="t"/>
          <a:lstStyle/>
          <a:p>
            <a:pPr indent="0" marL="0">
              <a:buNone/>
            </a:pPr>
            <a:r>
              <a:rPr lang="en-US" sz="1400" dirty="0">
                <a:solidFill>
                  <a:schemeClr val="tx1"/>
                </a:solidFill>
              </a:rPr>
              <a:t>forecast R²</a:t>
            </a:r>
            <a:endParaRPr lang="en-US" sz="1400" dirty="0"/>
          </a:p>
        </p:txBody>
      </p:sp>
      <p:sp>
        <p:nvSpPr>
          <p:cNvPr id="15" name="Text 13"/>
          <p:cNvSpPr txBox="1"/>
          <p:nvPr/>
        </p:nvSpPr>
        <p:spPr>
          <a:xfrm>
            <a:off x="457200" y="3108960"/>
            <a:ext cx="274320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Track status</a:t>
            </a:r>
            <a:endParaRPr lang="en-US" sz="1600" dirty="0"/>
          </a:p>
        </p:txBody>
      </p:sp>
      <p:sp>
        <p:nvSpPr>
          <p:cNvPr id="16" name="Shape 14"/>
          <p:cNvSpPr/>
          <p:nvPr/>
        </p:nvSpPr>
        <p:spPr>
          <a:xfrm>
            <a:off x="457200" y="3611880"/>
            <a:ext cx="320040" cy="320040"/>
          </a:xfrm>
          <a:prstGeom prst="ellipse">
            <a:avLst/>
          </a:prstGeom>
          <a:solidFill>
            <a:schemeClr val="accent4"/>
          </a:solidFill>
          <a:ln w="12700">
            <a:solidFill>
              <a:schemeClr val="accent4"/>
            </a:solidFill>
            <a:prstDash val="solid"/>
          </a:ln>
        </p:spPr>
      </p:sp>
      <p:sp>
        <p:nvSpPr>
          <p:cNvPr id="17" name="Text 15"/>
          <p:cNvSpPr txBox="1"/>
          <p:nvPr/>
        </p:nvSpPr>
        <p:spPr>
          <a:xfrm>
            <a:off x="868680" y="3611880"/>
            <a:ext cx="1188720" cy="320040"/>
          </a:xfrm>
          <a:prstGeom prst="rect">
            <a:avLst/>
          </a:prstGeom>
          <a:noFill/>
          <a:ln/>
        </p:spPr>
        <p:txBody>
          <a:bodyPr wrap="square" lIns="0" tIns="0" rIns="0" bIns="0" rtlCol="0" anchor="ctr"/>
          <a:lstStyle/>
          <a:p>
            <a:pPr indent="0" marL="0">
              <a:buNone/>
            </a:pPr>
            <a:r>
              <a:rPr lang="en-US" sz="1300" dirty="0">
                <a:solidFill>
                  <a:schemeClr val="tx1"/>
                </a:solidFill>
              </a:rPr>
              <a:t>DA: delivered</a:t>
            </a:r>
            <a:endParaRPr lang="en-US" sz="1300" dirty="0"/>
          </a:p>
        </p:txBody>
      </p:sp>
      <p:sp>
        <p:nvSpPr>
          <p:cNvPr id="18" name="Shape 16"/>
          <p:cNvSpPr/>
          <p:nvPr/>
        </p:nvSpPr>
        <p:spPr>
          <a:xfrm>
            <a:off x="2103120" y="3611880"/>
            <a:ext cx="320040" cy="320040"/>
          </a:xfrm>
          <a:prstGeom prst="ellipse">
            <a:avLst/>
          </a:prstGeom>
          <a:solidFill>
            <a:schemeClr val="accent4"/>
          </a:solidFill>
          <a:ln w="12700">
            <a:solidFill>
              <a:schemeClr val="accent4"/>
            </a:solidFill>
            <a:prstDash val="solid"/>
          </a:ln>
        </p:spPr>
      </p:sp>
      <p:sp>
        <p:nvSpPr>
          <p:cNvPr id="19" name="Text 17"/>
          <p:cNvSpPr txBox="1"/>
          <p:nvPr/>
        </p:nvSpPr>
        <p:spPr>
          <a:xfrm>
            <a:off x="2514600" y="3611880"/>
            <a:ext cx="1188720" cy="320040"/>
          </a:xfrm>
          <a:prstGeom prst="rect">
            <a:avLst/>
          </a:prstGeom>
          <a:noFill/>
          <a:ln/>
        </p:spPr>
        <p:txBody>
          <a:bodyPr wrap="square" lIns="0" tIns="0" rIns="0" bIns="0" rtlCol="0" anchor="ctr"/>
          <a:lstStyle/>
          <a:p>
            <a:pPr indent="0" marL="0">
              <a:buNone/>
            </a:pPr>
            <a:r>
              <a:rPr lang="en-US" sz="1300" dirty="0">
                <a:solidFill>
                  <a:schemeClr val="tx1"/>
                </a:solidFill>
              </a:rPr>
              <a:t>DS: delivered</a:t>
            </a:r>
            <a:endParaRPr lang="en-US" sz="1300" dirty="0"/>
          </a:p>
        </p:txBody>
      </p:sp>
      <p:sp>
        <p:nvSpPr>
          <p:cNvPr id="20" name="Shape 18"/>
          <p:cNvSpPr/>
          <p:nvPr/>
        </p:nvSpPr>
        <p:spPr>
          <a:xfrm>
            <a:off x="3749040" y="3611880"/>
            <a:ext cx="320040" cy="320040"/>
          </a:xfrm>
          <a:prstGeom prst="ellipse">
            <a:avLst/>
          </a:prstGeom>
          <a:solidFill>
            <a:schemeClr val="accent4"/>
          </a:solidFill>
          <a:ln w="12700">
            <a:solidFill>
              <a:schemeClr val="accent4"/>
            </a:solidFill>
            <a:prstDash val="solid"/>
          </a:ln>
        </p:spPr>
      </p:sp>
      <p:sp>
        <p:nvSpPr>
          <p:cNvPr id="21" name="Text 19"/>
          <p:cNvSpPr txBox="1"/>
          <p:nvPr/>
        </p:nvSpPr>
        <p:spPr>
          <a:xfrm>
            <a:off x="4160520" y="3611880"/>
            <a:ext cx="1188720" cy="320040"/>
          </a:xfrm>
          <a:prstGeom prst="rect">
            <a:avLst/>
          </a:prstGeom>
          <a:noFill/>
          <a:ln/>
        </p:spPr>
        <p:txBody>
          <a:bodyPr wrap="square" lIns="0" tIns="0" rIns="0" bIns="0" rtlCol="0" anchor="ctr"/>
          <a:lstStyle/>
          <a:p>
            <a:pPr indent="0" marL="0">
              <a:buNone/>
            </a:pPr>
            <a:r>
              <a:rPr lang="en-US" sz="1300" dirty="0">
                <a:solidFill>
                  <a:schemeClr val="tx1"/>
                </a:solidFill>
              </a:rPr>
              <a:t>ML: delivered</a:t>
            </a:r>
            <a:endParaRPr lang="en-US" sz="1300" dirty="0"/>
          </a:p>
        </p:txBody>
      </p:sp>
      <p:sp>
        <p:nvSpPr>
          <p:cNvPr id="22" name="Shape 20"/>
          <p:cNvSpPr/>
          <p:nvPr/>
        </p:nvSpPr>
        <p:spPr>
          <a:xfrm>
            <a:off x="5394960" y="3611880"/>
            <a:ext cx="320040" cy="320040"/>
          </a:xfrm>
          <a:prstGeom prst="ellipse">
            <a:avLst/>
          </a:prstGeom>
          <a:solidFill>
            <a:schemeClr val="accent4"/>
          </a:solidFill>
          <a:ln w="12700">
            <a:solidFill>
              <a:schemeClr val="accent4"/>
            </a:solidFill>
            <a:prstDash val="solid"/>
          </a:ln>
        </p:spPr>
      </p:sp>
      <p:sp>
        <p:nvSpPr>
          <p:cNvPr id="23" name="Text 21"/>
          <p:cNvSpPr txBox="1"/>
          <p:nvPr/>
        </p:nvSpPr>
        <p:spPr>
          <a:xfrm>
            <a:off x="5806440" y="3611880"/>
            <a:ext cx="1188720" cy="320040"/>
          </a:xfrm>
          <a:prstGeom prst="rect">
            <a:avLst/>
          </a:prstGeom>
          <a:noFill/>
          <a:ln/>
        </p:spPr>
        <p:txBody>
          <a:bodyPr wrap="square" lIns="0" tIns="0" rIns="0" bIns="0" rtlCol="0" anchor="ctr"/>
          <a:lstStyle/>
          <a:p>
            <a:pPr indent="0" marL="0">
              <a:buNone/>
            </a:pPr>
            <a:r>
              <a:rPr lang="en-US" sz="1300" dirty="0">
                <a:solidFill>
                  <a:schemeClr val="tx1"/>
                </a:solidFill>
              </a:rPr>
              <a:t>GenAI: delivered</a:t>
            </a:r>
            <a:endParaRPr lang="en-US" sz="1300" dirty="0"/>
          </a:p>
        </p:txBody>
      </p:sp>
      <p:sp>
        <p:nvSpPr>
          <p:cNvPr id="24" name="Shape 22"/>
          <p:cNvSpPr/>
          <p:nvPr/>
        </p:nvSpPr>
        <p:spPr>
          <a:xfrm>
            <a:off x="7040880" y="3611880"/>
            <a:ext cx="320040" cy="320040"/>
          </a:xfrm>
          <a:prstGeom prst="ellipse">
            <a:avLst/>
          </a:prstGeom>
          <a:solidFill>
            <a:schemeClr val="accent4"/>
          </a:solidFill>
          <a:ln w="12700">
            <a:solidFill>
              <a:schemeClr val="accent4"/>
            </a:solidFill>
            <a:prstDash val="solid"/>
          </a:ln>
        </p:spPr>
      </p:sp>
      <p:sp>
        <p:nvSpPr>
          <p:cNvPr id="25" name="Text 23"/>
          <p:cNvSpPr txBox="1"/>
          <p:nvPr/>
        </p:nvSpPr>
        <p:spPr>
          <a:xfrm>
            <a:off x="7452360" y="3611880"/>
            <a:ext cx="1188720" cy="320040"/>
          </a:xfrm>
          <a:prstGeom prst="rect">
            <a:avLst/>
          </a:prstGeom>
          <a:noFill/>
          <a:ln/>
        </p:spPr>
        <p:txBody>
          <a:bodyPr wrap="square" lIns="0" tIns="0" rIns="0" bIns="0" rtlCol="0" anchor="ctr"/>
          <a:lstStyle/>
          <a:p>
            <a:pPr indent="0" marL="0">
              <a:buNone/>
            </a:pPr>
            <a:r>
              <a:rPr lang="en-US" sz="1300" dirty="0">
                <a:solidFill>
                  <a:schemeClr val="tx1"/>
                </a:solidFill>
              </a:rPr>
              <a:t>QA: delivered</a:t>
            </a:r>
            <a:endParaRPr lang="en-US" sz="1300" dirty="0"/>
          </a:p>
        </p:txBody>
      </p:sp>
      <p:sp>
        <p:nvSpPr>
          <p:cNvPr id="26" name="Text 24"/>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400" dirty="0">
                <a:solidFill>
                  <a:schemeClr val="accent6"/>
                </a:solidFill>
              </a:rPr>
              <a:t>SPI 1.0  |  0% variance  |  $0 spent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Agile approach: Kanban</a:t>
            </a:r>
            <a:endParaRPr lang="en-US" sz="3200" dirty="0"/>
          </a:p>
        </p:txBody>
      </p:sp>
      <p:sp>
        <p:nvSpPr>
          <p:cNvPr id="3" name="Shape 1"/>
          <p:cNvSpPr/>
          <p:nvPr/>
        </p:nvSpPr>
        <p:spPr>
          <a:xfrm>
            <a:off x="457200" y="1188720"/>
            <a:ext cx="2651760" cy="457200"/>
          </a:xfrm>
          <a:prstGeom prst="roundRect">
            <a:avLst>
              <a:gd name="adj" fmla="val 16000"/>
            </a:avLst>
          </a:prstGeom>
          <a:solidFill>
            <a:schemeClr val="accent6"/>
          </a:solidFill>
          <a:ln w="12700">
            <a:solidFill>
              <a:schemeClr val="accent6"/>
            </a:solidFill>
            <a:prstDash val="solid"/>
          </a:ln>
        </p:spPr>
      </p:sp>
      <p:sp>
        <p:nvSpPr>
          <p:cNvPr id="4" name="Text 2"/>
          <p:cNvSpPr txBox="1"/>
          <p:nvPr/>
        </p:nvSpPr>
        <p:spPr>
          <a:xfrm>
            <a:off x="457200" y="1188720"/>
            <a:ext cx="2651760" cy="457200"/>
          </a:xfrm>
          <a:prstGeom prst="rect">
            <a:avLst/>
          </a:prstGeom>
          <a:noFill/>
          <a:ln/>
        </p:spPr>
        <p:txBody>
          <a:bodyPr wrap="square" lIns="0" tIns="0" rIns="0" bIns="0" rtlCol="0" anchor="ctr"/>
          <a:lstStyle/>
          <a:p>
            <a:pPr algn="ctr" indent="0" marL="0">
              <a:buNone/>
            </a:pPr>
            <a:r>
              <a:rPr lang="en-US" sz="1500" b="1" dirty="0">
                <a:solidFill>
                  <a:schemeClr val="bg1"/>
                </a:solidFill>
              </a:rPr>
              <a:t>To Do</a:t>
            </a:r>
            <a:endParaRPr lang="en-US" sz="1500" dirty="0"/>
          </a:p>
        </p:txBody>
      </p:sp>
      <p:sp>
        <p:nvSpPr>
          <p:cNvPr id="5" name="Shape 3"/>
          <p:cNvSpPr/>
          <p:nvPr/>
        </p:nvSpPr>
        <p:spPr>
          <a:xfrm>
            <a:off x="457200" y="1737360"/>
            <a:ext cx="2651760" cy="2331720"/>
          </a:xfrm>
          <a:prstGeom prst="roundRect">
            <a:avLst>
              <a:gd name="adj" fmla="val 3922"/>
            </a:avLst>
          </a:prstGeom>
          <a:solidFill>
            <a:schemeClr val="bg2"/>
          </a:solidFill>
          <a:ln w="12700">
            <a:solidFill>
              <a:schemeClr val="bg2"/>
            </a:solidFill>
            <a:prstDash val="solid"/>
          </a:ln>
        </p:spPr>
      </p:sp>
      <p:sp>
        <p:nvSpPr>
          <p:cNvPr id="6" name="Text 4"/>
          <p:cNvSpPr txBox="1"/>
          <p:nvPr/>
        </p:nvSpPr>
        <p:spPr>
          <a:xfrm>
            <a:off x="640080" y="1828800"/>
            <a:ext cx="2286000" cy="21488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Hub feasibility study</a:t>
            </a:r>
            <a:endParaRPr lang="en-US" sz="1400" dirty="0"/>
          </a:p>
          <a:p>
            <a:pPr indent="0" marL="0">
              <a:spcAft>
                <a:spcPts val="600"/>
              </a:spcAft>
              <a:buNone/>
            </a:pPr>
            <a:r>
              <a:rPr lang="en-US" sz="1400" dirty="0">
                <a:solidFill>
                  <a:schemeClr val="tx1"/>
                </a:solidFill>
              </a:rPr>
              <a:t>KPI definition sheet</a:t>
            </a:r>
            <a:endParaRPr lang="en-US" sz="1400" dirty="0"/>
          </a:p>
        </p:txBody>
      </p:sp>
      <p:sp>
        <p:nvSpPr>
          <p:cNvPr id="7" name="Shape 5"/>
          <p:cNvSpPr/>
          <p:nvPr/>
        </p:nvSpPr>
        <p:spPr>
          <a:xfrm>
            <a:off x="3246120" y="1188720"/>
            <a:ext cx="2651760" cy="457200"/>
          </a:xfrm>
          <a:prstGeom prst="roundRect">
            <a:avLst>
              <a:gd name="adj" fmla="val 16000"/>
            </a:avLst>
          </a:prstGeom>
          <a:solidFill>
            <a:schemeClr val="accent1"/>
          </a:solidFill>
          <a:ln w="12700">
            <a:solidFill>
              <a:schemeClr val="accent1"/>
            </a:solidFill>
            <a:prstDash val="solid"/>
          </a:ln>
        </p:spPr>
      </p:sp>
      <p:sp>
        <p:nvSpPr>
          <p:cNvPr id="8" name="Text 6"/>
          <p:cNvSpPr txBox="1"/>
          <p:nvPr/>
        </p:nvSpPr>
        <p:spPr>
          <a:xfrm>
            <a:off x="3246120" y="1188720"/>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In Progress</a:t>
            </a:r>
            <a:endParaRPr lang="en-US" sz="1500" dirty="0"/>
          </a:p>
        </p:txBody>
      </p:sp>
      <p:sp>
        <p:nvSpPr>
          <p:cNvPr id="9" name="Shape 7"/>
          <p:cNvSpPr/>
          <p:nvPr/>
        </p:nvSpPr>
        <p:spPr>
          <a:xfrm>
            <a:off x="3246120" y="1737360"/>
            <a:ext cx="2651760" cy="2331720"/>
          </a:xfrm>
          <a:prstGeom prst="roundRect">
            <a:avLst>
              <a:gd name="adj" fmla="val 3922"/>
            </a:avLst>
          </a:prstGeom>
          <a:solidFill>
            <a:schemeClr val="bg2"/>
          </a:solidFill>
          <a:ln w="12700">
            <a:solidFill>
              <a:schemeClr val="bg2"/>
            </a:solidFill>
            <a:prstDash val="solid"/>
          </a:ln>
        </p:spPr>
      </p:sp>
      <p:sp>
        <p:nvSpPr>
          <p:cNvPr id="10" name="Text 8"/>
          <p:cNvSpPr txBox="1"/>
          <p:nvPr/>
        </p:nvSpPr>
        <p:spPr>
          <a:xfrm>
            <a:off x="3429000" y="1828800"/>
            <a:ext cx="2286000" cy="21488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ML target realignment</a:t>
            </a:r>
            <a:endParaRPr lang="en-US" sz="1400" dirty="0"/>
          </a:p>
        </p:txBody>
      </p:sp>
      <p:sp>
        <p:nvSpPr>
          <p:cNvPr id="11" name="Shape 9"/>
          <p:cNvSpPr/>
          <p:nvPr/>
        </p:nvSpPr>
        <p:spPr>
          <a:xfrm>
            <a:off x="6035040" y="1188720"/>
            <a:ext cx="2651760" cy="457200"/>
          </a:xfrm>
          <a:prstGeom prst="roundRect">
            <a:avLst>
              <a:gd name="adj" fmla="val 16000"/>
            </a:avLst>
          </a:prstGeom>
          <a:solidFill>
            <a:schemeClr val="accent4"/>
          </a:solidFill>
          <a:ln w="12700">
            <a:solidFill>
              <a:schemeClr val="accent4"/>
            </a:solidFill>
            <a:prstDash val="solid"/>
          </a:ln>
        </p:spPr>
      </p:sp>
      <p:sp>
        <p:nvSpPr>
          <p:cNvPr id="12" name="Text 10"/>
          <p:cNvSpPr txBox="1"/>
          <p:nvPr/>
        </p:nvSpPr>
        <p:spPr>
          <a:xfrm>
            <a:off x="6035040" y="1188720"/>
            <a:ext cx="2651760" cy="457200"/>
          </a:xfrm>
          <a:prstGeom prst="rect">
            <a:avLst/>
          </a:prstGeom>
          <a:noFill/>
          <a:ln/>
        </p:spPr>
        <p:txBody>
          <a:bodyPr wrap="square" lIns="0" tIns="0" rIns="0" bIns="0" rtlCol="0" anchor="ctr"/>
          <a:lstStyle/>
          <a:p>
            <a:pPr algn="ctr" indent="0" marL="0">
              <a:buNone/>
            </a:pPr>
            <a:r>
              <a:rPr lang="en-US" sz="1500" b="1" dirty="0">
                <a:solidFill>
                  <a:schemeClr val="bg1"/>
                </a:solidFill>
              </a:rPr>
              <a:t>Done</a:t>
            </a:r>
            <a:endParaRPr lang="en-US" sz="1500" dirty="0"/>
          </a:p>
        </p:txBody>
      </p:sp>
      <p:sp>
        <p:nvSpPr>
          <p:cNvPr id="13" name="Shape 11"/>
          <p:cNvSpPr/>
          <p:nvPr/>
        </p:nvSpPr>
        <p:spPr>
          <a:xfrm>
            <a:off x="6035040" y="1737360"/>
            <a:ext cx="2651760" cy="2331720"/>
          </a:xfrm>
          <a:prstGeom prst="roundRect">
            <a:avLst>
              <a:gd name="adj" fmla="val 3922"/>
            </a:avLst>
          </a:prstGeom>
          <a:solidFill>
            <a:schemeClr val="bg2"/>
          </a:solidFill>
          <a:ln w="12700">
            <a:solidFill>
              <a:schemeClr val="bg2"/>
            </a:solidFill>
            <a:prstDash val="solid"/>
          </a:ln>
        </p:spPr>
      </p:sp>
      <p:sp>
        <p:nvSpPr>
          <p:cNvPr id="14" name="Text 12"/>
          <p:cNvSpPr txBox="1"/>
          <p:nvPr/>
        </p:nvSpPr>
        <p:spPr>
          <a:xfrm>
            <a:off x="6217920" y="1828800"/>
            <a:ext cx="2286000" cy="21488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Data cleaning</a:t>
            </a:r>
            <a:endParaRPr lang="en-US" sz="1400" dirty="0"/>
          </a:p>
          <a:p>
            <a:pPr indent="0" marL="0">
              <a:spcAft>
                <a:spcPts val="600"/>
              </a:spcAft>
              <a:buNone/>
            </a:pPr>
            <a:r>
              <a:rPr lang="en-US" sz="1400" dirty="0">
                <a:solidFill>
                  <a:schemeClr val="tx1"/>
                </a:solidFill>
              </a:rPr>
              <a:t>Dashboards</a:t>
            </a:r>
            <a:endParaRPr lang="en-US" sz="1400" dirty="0"/>
          </a:p>
          <a:p>
            <a:pPr indent="0" marL="0">
              <a:spcAft>
                <a:spcPts val="600"/>
              </a:spcAft>
              <a:buNone/>
            </a:pPr>
            <a:r>
              <a:rPr lang="en-US" sz="1400" dirty="0">
                <a:solidFill>
                  <a:schemeClr val="tx1"/>
                </a:solidFill>
              </a:rPr>
              <a:t>Feature matrix</a:t>
            </a:r>
            <a:endParaRPr lang="en-US" sz="1400" dirty="0"/>
          </a:p>
          <a:p>
            <a:pPr indent="0" marL="0">
              <a:spcAft>
                <a:spcPts val="600"/>
              </a:spcAft>
              <a:buNone/>
            </a:pPr>
            <a:r>
              <a:rPr lang="en-US" sz="1400" dirty="0">
                <a:solidFill>
                  <a:schemeClr val="tx1"/>
                </a:solidFill>
              </a:rPr>
              <a:t>Demand forecaster</a:t>
            </a:r>
            <a:endParaRPr lang="en-US" sz="1400" dirty="0"/>
          </a:p>
          <a:p>
            <a:pPr indent="0" marL="0">
              <a:spcAft>
                <a:spcPts val="600"/>
              </a:spcAft>
              <a:buNone/>
            </a:pPr>
            <a:r>
              <a:rPr lang="en-US" sz="1400" dirty="0">
                <a:solidFill>
                  <a:schemeClr val="tx1"/>
                </a:solidFill>
              </a:rPr>
              <a:t>RAG assistant</a:t>
            </a:r>
            <a:endParaRPr lang="en-US" sz="1400" dirty="0"/>
          </a:p>
          <a:p>
            <a:pPr indent="0" marL="0">
              <a:spcAft>
                <a:spcPts val="600"/>
              </a:spcAft>
              <a:buNone/>
            </a:pPr>
            <a:r>
              <a:rPr lang="en-US" sz="1400" dirty="0">
                <a:solidFill>
                  <a:schemeClr val="tx1"/>
                </a:solidFill>
              </a:rPr>
              <a:t>24/24 tests</a:t>
            </a:r>
            <a:endParaRPr lang="en-US" sz="1400" dirty="0"/>
          </a:p>
        </p:txBody>
      </p:sp>
      <p:sp>
        <p:nvSpPr>
          <p:cNvPr id="15" name="Text 13"/>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500" dirty="0">
                <a:solidFill>
                  <a:schemeClr val="tx1"/>
                </a:solidFill>
              </a:rPr>
              <a:t>Short sprints absorbed data surprises.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Outcomes delivered</a:t>
            </a:r>
            <a:endParaRPr lang="en-US" sz="3200" dirty="0"/>
          </a:p>
        </p:txBody>
      </p:sp>
      <p:sp>
        <p:nvSpPr>
          <p:cNvPr id="3" name="Shape 1"/>
          <p:cNvSpPr/>
          <p:nvPr/>
        </p:nvSpPr>
        <p:spPr>
          <a:xfrm>
            <a:off x="457200" y="1371600"/>
            <a:ext cx="2606040" cy="2743200"/>
          </a:xfrm>
          <a:prstGeom prst="roundRect">
            <a:avLst>
              <a:gd name="adj" fmla="val 3509"/>
            </a:avLst>
          </a:prstGeom>
          <a:solidFill>
            <a:schemeClr val="bg2"/>
          </a:solidFill>
          <a:ln w="12700">
            <a:solidFill>
              <a:schemeClr val="bg2"/>
            </a:solidFill>
            <a:prstDash val="solid"/>
          </a:ln>
        </p:spPr>
      </p:sp>
      <p:sp>
        <p:nvSpPr>
          <p:cNvPr id="4" name="Text 2"/>
          <p:cNvSpPr txBox="1"/>
          <p:nvPr/>
        </p:nvSpPr>
        <p:spPr>
          <a:xfrm>
            <a:off x="640080" y="1554480"/>
            <a:ext cx="2286000" cy="822960"/>
          </a:xfrm>
          <a:prstGeom prst="rect">
            <a:avLst/>
          </a:prstGeom>
          <a:noFill/>
          <a:ln/>
        </p:spPr>
        <p:txBody>
          <a:bodyPr wrap="square" lIns="0" tIns="0" rIns="0" bIns="0" rtlCol="0" anchor="ctr"/>
          <a:lstStyle/>
          <a:p>
            <a:pPr indent="0" marL="0">
              <a:buNone/>
            </a:pPr>
            <a:r>
              <a:rPr lang="en-US" sz="3800" b="1" dirty="0">
                <a:solidFill>
                  <a:schemeClr val="tx2"/>
                </a:solidFill>
                <a:latin typeface="Cambria" pitchFamily="34" charset="0"/>
                <a:ea typeface="Cambria" pitchFamily="34" charset="-122"/>
                <a:cs typeface="Cambria" pitchFamily="34" charset="-120"/>
              </a:rPr>
              <a:t>$19.1M</a:t>
            </a:r>
            <a:endParaRPr lang="en-US" sz="3800" dirty="0"/>
          </a:p>
        </p:txBody>
      </p:sp>
      <p:sp>
        <p:nvSpPr>
          <p:cNvPr id="5" name="Text 3"/>
          <p:cNvSpPr txBox="1"/>
          <p:nvPr/>
        </p:nvSpPr>
        <p:spPr>
          <a:xfrm>
            <a:off x="640080" y="2514600"/>
            <a:ext cx="2286000" cy="1371600"/>
          </a:xfrm>
          <a:prstGeom prst="rect">
            <a:avLst/>
          </a:prstGeom>
          <a:noFill/>
          <a:ln/>
        </p:spPr>
        <p:txBody>
          <a:bodyPr wrap="square" lIns="0" tIns="0" rIns="0" bIns="0" rtlCol="0" anchor="t"/>
          <a:lstStyle/>
          <a:p>
            <a:pPr indent="0" marL="0">
              <a:buNone/>
            </a:pPr>
            <a:r>
              <a:rPr lang="en-US" sz="1500" dirty="0">
                <a:solidFill>
                  <a:schemeClr val="tx1"/>
                </a:solidFill>
              </a:rPr>
              <a:t>gross revenue across 4,600 processed orders</a:t>
            </a:r>
            <a:endParaRPr lang="en-US" sz="1500" dirty="0"/>
          </a:p>
        </p:txBody>
      </p:sp>
      <p:sp>
        <p:nvSpPr>
          <p:cNvPr id="6" name="Shape 4"/>
          <p:cNvSpPr/>
          <p:nvPr/>
        </p:nvSpPr>
        <p:spPr>
          <a:xfrm>
            <a:off x="3246120" y="1371600"/>
            <a:ext cx="2606040" cy="2743200"/>
          </a:xfrm>
          <a:prstGeom prst="roundRect">
            <a:avLst>
              <a:gd name="adj" fmla="val 3509"/>
            </a:avLst>
          </a:prstGeom>
          <a:solidFill>
            <a:schemeClr val="bg2"/>
          </a:solidFill>
          <a:ln w="12700">
            <a:solidFill>
              <a:schemeClr val="bg2"/>
            </a:solidFill>
            <a:prstDash val="solid"/>
          </a:ln>
        </p:spPr>
      </p:sp>
      <p:sp>
        <p:nvSpPr>
          <p:cNvPr id="7" name="Text 5"/>
          <p:cNvSpPr txBox="1"/>
          <p:nvPr/>
        </p:nvSpPr>
        <p:spPr>
          <a:xfrm>
            <a:off x="3429000" y="1554480"/>
            <a:ext cx="2286000" cy="822960"/>
          </a:xfrm>
          <a:prstGeom prst="rect">
            <a:avLst/>
          </a:prstGeom>
          <a:noFill/>
          <a:ln/>
        </p:spPr>
        <p:txBody>
          <a:bodyPr wrap="square" lIns="0" tIns="0" rIns="0" bIns="0" rtlCol="0" anchor="ctr"/>
          <a:lstStyle/>
          <a:p>
            <a:pPr indent="0" marL="0">
              <a:buNone/>
            </a:pPr>
            <a:r>
              <a:rPr lang="en-US" sz="3800" b="1" dirty="0">
                <a:solidFill>
                  <a:schemeClr val="tx2"/>
                </a:solidFill>
                <a:latin typeface="Cambria" pitchFamily="34" charset="0"/>
                <a:ea typeface="Cambria" pitchFamily="34" charset="-122"/>
                <a:cs typeface="Cambria" pitchFamily="34" charset="-120"/>
              </a:rPr>
              <a:t>R² 0.9650</a:t>
            </a:r>
            <a:endParaRPr lang="en-US" sz="3800" dirty="0"/>
          </a:p>
        </p:txBody>
      </p:sp>
      <p:sp>
        <p:nvSpPr>
          <p:cNvPr id="8" name="Text 6"/>
          <p:cNvSpPr txBox="1"/>
          <p:nvPr/>
        </p:nvSpPr>
        <p:spPr>
          <a:xfrm>
            <a:off x="3429000" y="2514600"/>
            <a:ext cx="2286000" cy="1371600"/>
          </a:xfrm>
          <a:prstGeom prst="rect">
            <a:avLst/>
          </a:prstGeom>
          <a:noFill/>
          <a:ln/>
        </p:spPr>
        <p:txBody>
          <a:bodyPr wrap="square" lIns="0" tIns="0" rIns="0" bIns="0" rtlCol="0" anchor="t"/>
          <a:lstStyle/>
          <a:p>
            <a:pPr indent="0" marL="0">
              <a:buNone/>
            </a:pPr>
            <a:r>
              <a:rPr lang="en-US" sz="1500" dirty="0">
                <a:solidFill>
                  <a:schemeClr val="tx1"/>
                </a:solidFill>
              </a:rPr>
              <a:t>Gradient Boosting demand forecaster (MAE $286.14)</a:t>
            </a:r>
            <a:endParaRPr lang="en-US" sz="1500" dirty="0"/>
          </a:p>
        </p:txBody>
      </p:sp>
      <p:sp>
        <p:nvSpPr>
          <p:cNvPr id="9" name="Shape 7"/>
          <p:cNvSpPr/>
          <p:nvPr/>
        </p:nvSpPr>
        <p:spPr>
          <a:xfrm>
            <a:off x="6035040" y="1371600"/>
            <a:ext cx="2606040" cy="2743200"/>
          </a:xfrm>
          <a:prstGeom prst="roundRect">
            <a:avLst>
              <a:gd name="adj" fmla="val 3509"/>
            </a:avLst>
          </a:prstGeom>
          <a:solidFill>
            <a:schemeClr val="bg2"/>
          </a:solidFill>
          <a:ln w="12700">
            <a:solidFill>
              <a:schemeClr val="bg2"/>
            </a:solidFill>
            <a:prstDash val="solid"/>
          </a:ln>
        </p:spPr>
      </p:sp>
      <p:sp>
        <p:nvSpPr>
          <p:cNvPr id="10" name="Text 8"/>
          <p:cNvSpPr txBox="1"/>
          <p:nvPr/>
        </p:nvSpPr>
        <p:spPr>
          <a:xfrm>
            <a:off x="6217920" y="1554480"/>
            <a:ext cx="2286000" cy="822960"/>
          </a:xfrm>
          <a:prstGeom prst="rect">
            <a:avLst/>
          </a:prstGeom>
          <a:noFill/>
          <a:ln/>
        </p:spPr>
        <p:txBody>
          <a:bodyPr wrap="square" lIns="0" tIns="0" rIns="0" bIns="0" rtlCol="0" anchor="ctr"/>
          <a:lstStyle/>
          <a:p>
            <a:pPr indent="0" marL="0">
              <a:buNone/>
            </a:pPr>
            <a:r>
              <a:rPr lang="en-US" sz="3800" b="1" dirty="0">
                <a:solidFill>
                  <a:schemeClr val="tx2"/>
                </a:solidFill>
                <a:latin typeface="Cambria" pitchFamily="34" charset="0"/>
                <a:ea typeface="Cambria" pitchFamily="34" charset="-122"/>
                <a:cs typeface="Cambria" pitchFamily="34" charset="-120"/>
              </a:rPr>
              <a:t>24/24</a:t>
            </a:r>
            <a:endParaRPr lang="en-US" sz="3800" dirty="0"/>
          </a:p>
        </p:txBody>
      </p:sp>
      <p:sp>
        <p:nvSpPr>
          <p:cNvPr id="11" name="Text 9"/>
          <p:cNvSpPr txBox="1"/>
          <p:nvPr/>
        </p:nvSpPr>
        <p:spPr>
          <a:xfrm>
            <a:off x="6217920" y="2514600"/>
            <a:ext cx="2286000" cy="1371600"/>
          </a:xfrm>
          <a:prstGeom prst="rect">
            <a:avLst/>
          </a:prstGeom>
          <a:noFill/>
          <a:ln/>
        </p:spPr>
        <p:txBody>
          <a:bodyPr wrap="square" lIns="0" tIns="0" rIns="0" bIns="0" rtlCol="0" anchor="t"/>
          <a:lstStyle/>
          <a:p>
            <a:pPr indent="0" marL="0">
              <a:buNone/>
            </a:pPr>
            <a:r>
              <a:rPr lang="en-US" sz="1500" dirty="0">
                <a:solidFill>
                  <a:schemeClr val="tx1"/>
                </a:solidFill>
              </a:rPr>
              <a:t>QA Pytests passing (100%)</a:t>
            </a:r>
            <a:endParaRPr lang="en-US" sz="1500" dirty="0"/>
          </a:p>
        </p:txBody>
      </p:sp>
      <p:sp>
        <p:nvSpPr>
          <p:cNvPr id="12" name="Text 10"/>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300" dirty="0">
                <a:solidFill>
                  <a:schemeClr val="accent6"/>
                </a:solidFill>
              </a:rPr>
              <a:t>Also delivered: feature matrix, 20 prompt templates, RAG assistant, 3 workflows.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Recommendations</a:t>
            </a:r>
            <a:endParaRPr lang="en-US" sz="3200" dirty="0"/>
          </a:p>
        </p:txBody>
      </p:sp>
      <p:sp>
        <p:nvSpPr>
          <p:cNvPr id="3" name="Shape 1"/>
          <p:cNvSpPr/>
          <p:nvPr/>
        </p:nvSpPr>
        <p:spPr>
          <a:xfrm>
            <a:off x="457200" y="1143000"/>
            <a:ext cx="8229600" cy="548640"/>
          </a:xfrm>
          <a:prstGeom prst="roundRect">
            <a:avLst>
              <a:gd name="adj" fmla="val 16667"/>
            </a:avLst>
          </a:prstGeom>
          <a:solidFill>
            <a:schemeClr val="bg2"/>
          </a:solidFill>
          <a:ln w="12700">
            <a:solidFill>
              <a:schemeClr val="bg2"/>
            </a:solidFill>
            <a:prstDash val="solid"/>
          </a:ln>
        </p:spPr>
      </p:sp>
      <p:sp>
        <p:nvSpPr>
          <p:cNvPr id="4" name="Shape 2"/>
          <p:cNvSpPr/>
          <p:nvPr/>
        </p:nvSpPr>
        <p:spPr>
          <a:xfrm>
            <a:off x="594360" y="1207008"/>
            <a:ext cx="420624" cy="420624"/>
          </a:xfrm>
          <a:prstGeom prst="ellipse">
            <a:avLst/>
          </a:prstGeom>
          <a:solidFill>
            <a:schemeClr val="accent2"/>
          </a:solidFill>
          <a:ln w="12700">
            <a:solidFill>
              <a:schemeClr val="accent2"/>
            </a:solidFill>
            <a:prstDash val="solid"/>
          </a:ln>
        </p:spPr>
      </p:sp>
      <p:sp>
        <p:nvSpPr>
          <p:cNvPr id="5" name="Text 3"/>
          <p:cNvSpPr txBox="1"/>
          <p:nvPr/>
        </p:nvSpPr>
        <p:spPr>
          <a:xfrm>
            <a:off x="594360" y="120700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143000"/>
            <a:ext cx="3749040" cy="5486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Close Ibadan Hub Gap</a:t>
            </a:r>
            <a:endParaRPr lang="en-US" sz="1700" dirty="0"/>
          </a:p>
        </p:txBody>
      </p:sp>
      <p:sp>
        <p:nvSpPr>
          <p:cNvPr id="7" name="Text 5"/>
          <p:cNvSpPr txBox="1"/>
          <p:nvPr/>
        </p:nvSpPr>
        <p:spPr>
          <a:xfrm>
            <a:off x="5029200" y="1143000"/>
            <a:ext cx="3520440" cy="548640"/>
          </a:xfrm>
          <a:prstGeom prst="rect">
            <a:avLst/>
          </a:prstGeom>
          <a:noFill/>
          <a:ln/>
        </p:spPr>
        <p:txBody>
          <a:bodyPr wrap="square" lIns="0" tIns="0" rIns="0" bIns="0" rtlCol="0" anchor="ctr"/>
          <a:lstStyle/>
          <a:p>
            <a:pPr indent="0" marL="0">
              <a:buNone/>
            </a:pPr>
            <a:r>
              <a:rPr lang="en-US" sz="1500" dirty="0">
                <a:solidFill>
                  <a:schemeClr val="tx1"/>
                </a:solidFill>
              </a:rPr>
              <a:t>Feasibility study</a:t>
            </a:r>
            <a:endParaRPr lang="en-US" sz="1500" dirty="0"/>
          </a:p>
        </p:txBody>
      </p:sp>
      <p:sp>
        <p:nvSpPr>
          <p:cNvPr id="8" name="Shape 6"/>
          <p:cNvSpPr/>
          <p:nvPr/>
        </p:nvSpPr>
        <p:spPr>
          <a:xfrm>
            <a:off x="457200" y="1783080"/>
            <a:ext cx="8229600" cy="548640"/>
          </a:xfrm>
          <a:prstGeom prst="roundRect">
            <a:avLst>
              <a:gd name="adj" fmla="val 16667"/>
            </a:avLst>
          </a:prstGeom>
          <a:solidFill>
            <a:schemeClr val="bg2"/>
          </a:solidFill>
          <a:ln w="12700">
            <a:solidFill>
              <a:schemeClr val="bg2"/>
            </a:solidFill>
            <a:prstDash val="solid"/>
          </a:ln>
        </p:spPr>
      </p:sp>
      <p:sp>
        <p:nvSpPr>
          <p:cNvPr id="9" name="Shape 7"/>
          <p:cNvSpPr/>
          <p:nvPr/>
        </p:nvSpPr>
        <p:spPr>
          <a:xfrm>
            <a:off x="594360" y="1847088"/>
            <a:ext cx="420624" cy="420624"/>
          </a:xfrm>
          <a:prstGeom prst="ellipse">
            <a:avLst/>
          </a:prstGeom>
          <a:solidFill>
            <a:schemeClr val="accent2"/>
          </a:solidFill>
          <a:ln w="12700">
            <a:solidFill>
              <a:schemeClr val="accent2"/>
            </a:solidFill>
            <a:prstDash val="solid"/>
          </a:ln>
        </p:spPr>
      </p:sp>
      <p:sp>
        <p:nvSpPr>
          <p:cNvPr id="10" name="Text 8"/>
          <p:cNvSpPr txBox="1"/>
          <p:nvPr/>
        </p:nvSpPr>
        <p:spPr>
          <a:xfrm>
            <a:off x="594360" y="184708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188720" y="1783080"/>
            <a:ext cx="3749040" cy="5486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Fix Data Foundations</a:t>
            </a:r>
            <a:endParaRPr lang="en-US" sz="1700" dirty="0"/>
          </a:p>
        </p:txBody>
      </p:sp>
      <p:sp>
        <p:nvSpPr>
          <p:cNvPr id="12" name="Text 10"/>
          <p:cNvSpPr txBox="1"/>
          <p:nvPr/>
        </p:nvSpPr>
        <p:spPr>
          <a:xfrm>
            <a:off x="5029200" y="1783080"/>
            <a:ext cx="3520440" cy="548640"/>
          </a:xfrm>
          <a:prstGeom prst="rect">
            <a:avLst/>
          </a:prstGeom>
          <a:noFill/>
          <a:ln/>
        </p:spPr>
        <p:txBody>
          <a:bodyPr wrap="square" lIns="0" tIns="0" rIns="0" bIns="0" rtlCol="0" anchor="ctr"/>
          <a:lstStyle/>
          <a:p>
            <a:pPr indent="0" marL="0">
              <a:buNone/>
            </a:pPr>
            <a:r>
              <a:rPr lang="en-US" sz="1500" dirty="0">
                <a:solidFill>
                  <a:schemeClr val="tx1"/>
                </a:solidFill>
              </a:rPr>
              <a:t>Add SupplierID &amp; Capacity fields</a:t>
            </a:r>
            <a:endParaRPr lang="en-US" sz="1500" dirty="0"/>
          </a:p>
        </p:txBody>
      </p:sp>
      <p:sp>
        <p:nvSpPr>
          <p:cNvPr id="13" name="Shape 11"/>
          <p:cNvSpPr/>
          <p:nvPr/>
        </p:nvSpPr>
        <p:spPr>
          <a:xfrm>
            <a:off x="457200" y="2423160"/>
            <a:ext cx="8229600" cy="548640"/>
          </a:xfrm>
          <a:prstGeom prst="roundRect">
            <a:avLst>
              <a:gd name="adj" fmla="val 16667"/>
            </a:avLst>
          </a:prstGeom>
          <a:solidFill>
            <a:schemeClr val="bg2"/>
          </a:solidFill>
          <a:ln w="12700">
            <a:solidFill>
              <a:schemeClr val="bg2"/>
            </a:solidFill>
            <a:prstDash val="solid"/>
          </a:ln>
        </p:spPr>
      </p:sp>
      <p:sp>
        <p:nvSpPr>
          <p:cNvPr id="14" name="Shape 12"/>
          <p:cNvSpPr/>
          <p:nvPr/>
        </p:nvSpPr>
        <p:spPr>
          <a:xfrm>
            <a:off x="594360" y="2487168"/>
            <a:ext cx="420624" cy="420624"/>
          </a:xfrm>
          <a:prstGeom prst="ellipse">
            <a:avLst/>
          </a:prstGeom>
          <a:solidFill>
            <a:schemeClr val="accent2"/>
          </a:solidFill>
          <a:ln w="12700">
            <a:solidFill>
              <a:schemeClr val="accent2"/>
            </a:solidFill>
            <a:prstDash val="solid"/>
          </a:ln>
        </p:spPr>
      </p:sp>
      <p:sp>
        <p:nvSpPr>
          <p:cNvPr id="15" name="Text 13"/>
          <p:cNvSpPr txBox="1"/>
          <p:nvPr/>
        </p:nvSpPr>
        <p:spPr>
          <a:xfrm>
            <a:off x="594360" y="24871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188720" y="2423160"/>
            <a:ext cx="3749040" cy="5486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Standardize KPIs</a:t>
            </a:r>
            <a:endParaRPr lang="en-US" sz="1700" dirty="0"/>
          </a:p>
        </p:txBody>
      </p:sp>
      <p:sp>
        <p:nvSpPr>
          <p:cNvPr id="17" name="Text 15"/>
          <p:cNvSpPr txBox="1"/>
          <p:nvPr/>
        </p:nvSpPr>
        <p:spPr>
          <a:xfrm>
            <a:off x="5029200" y="2423160"/>
            <a:ext cx="3520440" cy="548640"/>
          </a:xfrm>
          <a:prstGeom prst="rect">
            <a:avLst/>
          </a:prstGeom>
          <a:noFill/>
          <a:ln/>
        </p:spPr>
        <p:txBody>
          <a:bodyPr wrap="square" lIns="0" tIns="0" rIns="0" bIns="0" rtlCol="0" anchor="ctr"/>
          <a:lstStyle/>
          <a:p>
            <a:pPr indent="0" marL="0">
              <a:buNone/>
            </a:pPr>
            <a:r>
              <a:rPr lang="en-US" sz="1500" dirty="0">
                <a:solidFill>
                  <a:schemeClr val="tx1"/>
                </a:solidFill>
              </a:rPr>
              <a:t>Gross vs Confirmed revenue</a:t>
            </a:r>
            <a:endParaRPr lang="en-US" sz="1500" dirty="0"/>
          </a:p>
        </p:txBody>
      </p:sp>
      <p:sp>
        <p:nvSpPr>
          <p:cNvPr id="18" name="Shape 16"/>
          <p:cNvSpPr/>
          <p:nvPr/>
        </p:nvSpPr>
        <p:spPr>
          <a:xfrm>
            <a:off x="457200" y="3063240"/>
            <a:ext cx="8229600" cy="548640"/>
          </a:xfrm>
          <a:prstGeom prst="roundRect">
            <a:avLst>
              <a:gd name="adj" fmla="val 16667"/>
            </a:avLst>
          </a:prstGeom>
          <a:solidFill>
            <a:schemeClr val="bg2"/>
          </a:solidFill>
          <a:ln w="12700">
            <a:solidFill>
              <a:schemeClr val="bg2"/>
            </a:solidFill>
            <a:prstDash val="solid"/>
          </a:ln>
        </p:spPr>
      </p:sp>
      <p:sp>
        <p:nvSpPr>
          <p:cNvPr id="19" name="Shape 17"/>
          <p:cNvSpPr/>
          <p:nvPr/>
        </p:nvSpPr>
        <p:spPr>
          <a:xfrm>
            <a:off x="594360" y="3127248"/>
            <a:ext cx="420624" cy="420624"/>
          </a:xfrm>
          <a:prstGeom prst="ellipse">
            <a:avLst/>
          </a:prstGeom>
          <a:solidFill>
            <a:schemeClr val="accent2"/>
          </a:solidFill>
          <a:ln w="12700">
            <a:solidFill>
              <a:schemeClr val="accent2"/>
            </a:solidFill>
            <a:prstDash val="solid"/>
          </a:ln>
        </p:spPr>
      </p:sp>
      <p:sp>
        <p:nvSpPr>
          <p:cNvPr id="20" name="Text 18"/>
          <p:cNvSpPr txBox="1"/>
          <p:nvPr/>
        </p:nvSpPr>
        <p:spPr>
          <a:xfrm>
            <a:off x="594360" y="31272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188720" y="3063240"/>
            <a:ext cx="3749040" cy="5486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Realign ML Targets</a:t>
            </a:r>
            <a:endParaRPr lang="en-US" sz="1700" dirty="0"/>
          </a:p>
        </p:txBody>
      </p:sp>
      <p:sp>
        <p:nvSpPr>
          <p:cNvPr id="22" name="Text 20"/>
          <p:cNvSpPr txBox="1"/>
          <p:nvPr/>
        </p:nvSpPr>
        <p:spPr>
          <a:xfrm>
            <a:off x="5029200" y="3063240"/>
            <a:ext cx="3520440" cy="548640"/>
          </a:xfrm>
          <a:prstGeom prst="rect">
            <a:avLst/>
          </a:prstGeom>
          <a:noFill/>
          <a:ln/>
        </p:spPr>
        <p:txBody>
          <a:bodyPr wrap="square" lIns="0" tIns="0" rIns="0" bIns="0" rtlCol="0" anchor="ctr"/>
          <a:lstStyle/>
          <a:p>
            <a:pPr indent="0" marL="0">
              <a:buNone/>
            </a:pPr>
            <a:r>
              <a:rPr lang="en-US" sz="1500" dirty="0">
                <a:solidFill>
                  <a:schemeClr val="tx1"/>
                </a:solidFill>
              </a:rPr>
              <a:t>Fix delay prediction</a:t>
            </a:r>
            <a:endParaRPr lang="en-US" sz="1500" dirty="0"/>
          </a:p>
        </p:txBody>
      </p:sp>
      <p:sp>
        <p:nvSpPr>
          <p:cNvPr id="23" name="Shape 21"/>
          <p:cNvSpPr/>
          <p:nvPr/>
        </p:nvSpPr>
        <p:spPr>
          <a:xfrm>
            <a:off x="457200" y="3703320"/>
            <a:ext cx="8229600" cy="548640"/>
          </a:xfrm>
          <a:prstGeom prst="roundRect">
            <a:avLst>
              <a:gd name="adj" fmla="val 16667"/>
            </a:avLst>
          </a:prstGeom>
          <a:solidFill>
            <a:schemeClr val="bg2"/>
          </a:solidFill>
          <a:ln w="12700">
            <a:solidFill>
              <a:schemeClr val="bg2"/>
            </a:solidFill>
            <a:prstDash val="solid"/>
          </a:ln>
        </p:spPr>
      </p:sp>
      <p:sp>
        <p:nvSpPr>
          <p:cNvPr id="24" name="Shape 22"/>
          <p:cNvSpPr/>
          <p:nvPr/>
        </p:nvSpPr>
        <p:spPr>
          <a:xfrm>
            <a:off x="594360" y="3767328"/>
            <a:ext cx="420624" cy="420624"/>
          </a:xfrm>
          <a:prstGeom prst="ellipse">
            <a:avLst/>
          </a:prstGeom>
          <a:solidFill>
            <a:schemeClr val="accent2"/>
          </a:solidFill>
          <a:ln w="12700">
            <a:solidFill>
              <a:schemeClr val="accent2"/>
            </a:solidFill>
            <a:prstDash val="solid"/>
          </a:ln>
        </p:spPr>
      </p:sp>
      <p:sp>
        <p:nvSpPr>
          <p:cNvPr id="25" name="Text 23"/>
          <p:cNvSpPr txBox="1"/>
          <p:nvPr/>
        </p:nvSpPr>
        <p:spPr>
          <a:xfrm>
            <a:off x="594360" y="37673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1188720" y="3703320"/>
            <a:ext cx="3749040" cy="5486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Deploy GenAI with Oversight</a:t>
            </a:r>
            <a:endParaRPr lang="en-US" sz="1700" dirty="0"/>
          </a:p>
        </p:txBody>
      </p:sp>
      <p:sp>
        <p:nvSpPr>
          <p:cNvPr id="27" name="Text 25"/>
          <p:cNvSpPr txBox="1"/>
          <p:nvPr/>
        </p:nvSpPr>
        <p:spPr>
          <a:xfrm>
            <a:off x="5029200" y="3703320"/>
            <a:ext cx="3520440" cy="548640"/>
          </a:xfrm>
          <a:prstGeom prst="rect">
            <a:avLst/>
          </a:prstGeom>
          <a:noFill/>
          <a:ln/>
        </p:spPr>
        <p:txBody>
          <a:bodyPr wrap="square" lIns="0" tIns="0" rIns="0" bIns="0" rtlCol="0" anchor="ctr"/>
          <a:lstStyle/>
          <a:p>
            <a:pPr indent="0" marL="0">
              <a:buNone/>
            </a:pPr>
            <a:r>
              <a:rPr lang="en-US" sz="1500" dirty="0">
                <a:solidFill>
                  <a:schemeClr val="tx1"/>
                </a:solidFill>
              </a:rPr>
              <a:t>RAG assistant</a:t>
            </a:r>
            <a:endParaRPr lang="en-US" sz="1500" dirty="0"/>
          </a:p>
        </p:txBody>
      </p:sp>
      <p:sp>
        <p:nvSpPr>
          <p:cNvPr id="28" name="Text 26"/>
          <p:cNvSpPr txBox="1"/>
          <p:nvPr/>
        </p:nvSpPr>
        <p:spPr>
          <a:xfrm>
            <a:off x="457200" y="4389120"/>
            <a:ext cx="8229600" cy="274320"/>
          </a:xfrm>
          <a:prstGeom prst="rect">
            <a:avLst/>
          </a:prstGeom>
          <a:noFill/>
          <a:ln/>
        </p:spPr>
        <p:txBody>
          <a:bodyPr wrap="square" lIns="0" tIns="0" rIns="0" bIns="0" rtlCol="0" anchor="ctr"/>
          <a:lstStyle/>
          <a:p>
            <a:pPr indent="0" marL="0">
              <a:buNone/>
            </a:pPr>
            <a:r>
              <a:rPr lang="en-US" sz="1200" i="1" dirty="0">
                <a:solidFill>
                  <a:schemeClr val="accent6"/>
                </a:solidFill>
              </a:rPr>
              <a:t>Full list of 10 recommendations available in the PM Report.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548640"/>
            <a:ext cx="8046720" cy="73152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Conclusion and next steps</a:t>
            </a:r>
            <a:endParaRPr lang="en-US" sz="3400" dirty="0"/>
          </a:p>
        </p:txBody>
      </p:sp>
      <p:sp>
        <p:nvSpPr>
          <p:cNvPr id="3" name="Text 1"/>
          <p:cNvSpPr txBox="1"/>
          <p:nvPr/>
        </p:nvSpPr>
        <p:spPr>
          <a:xfrm>
            <a:off x="548640" y="1645920"/>
            <a:ext cx="7863840" cy="2194560"/>
          </a:xfrm>
          <a:prstGeom prst="rect">
            <a:avLst/>
          </a:prstGeom>
          <a:noFill/>
          <a:ln/>
        </p:spPr>
        <p:txBody>
          <a:bodyPr wrap="square" lIns="0" tIns="0" rIns="0" bIns="0" rtlCol="0" anchor="t"/>
          <a:lstStyle/>
          <a:p>
            <a:pPr marL="342900" indent="-342900">
              <a:spcAft>
                <a:spcPts val="800"/>
              </a:spcAft>
              <a:buSzPct val="100000"/>
              <a:buChar char="•"/>
            </a:pPr>
            <a:r>
              <a:rPr lang="en-US" sz="2200" dirty="0">
                <a:solidFill>
                  <a:schemeClr val="bg2"/>
                </a:solidFill>
              </a:rPr>
              <a:t>All five tracks delivered; QA passed.</a:t>
            </a:r>
            <a:endParaRPr lang="en-US" sz="2200" dirty="0"/>
          </a:p>
          <a:p>
            <a:pPr marL="342900" indent="-342900">
              <a:spcAft>
                <a:spcPts val="800"/>
              </a:spcAft>
              <a:buSzPct val="100000"/>
              <a:buChar char="•"/>
            </a:pPr>
            <a:r>
              <a:rPr lang="en-US" sz="2200" dirty="0">
                <a:solidFill>
                  <a:schemeClr val="bg2"/>
                </a:solidFill>
              </a:rPr>
              <a:t>Key findings: Ibadan, delays, data gaps.</a:t>
            </a:r>
            <a:endParaRPr lang="en-US" sz="2200" dirty="0"/>
          </a:p>
          <a:p>
            <a:pPr marL="342900" indent="-342900">
              <a:spcAft>
                <a:spcPts val="800"/>
              </a:spcAft>
              <a:buSzPct val="100000"/>
              <a:buChar char="•"/>
            </a:pPr>
            <a:r>
              <a:rPr lang="en-US" sz="2200" dirty="0">
                <a:solidFill>
                  <a:schemeClr val="bg2"/>
                </a:solidFill>
              </a:rPr>
              <a:t>Next: hub study, KPIs, governance.</a:t>
            </a:r>
            <a:endParaRPr lang="en-US" sz="2200" dirty="0"/>
          </a:p>
        </p:txBody>
      </p:sp>
      <p:sp>
        <p:nvSpPr>
          <p:cNvPr id="4" name="Shape 2"/>
          <p:cNvSpPr/>
          <p:nvPr/>
        </p:nvSpPr>
        <p:spPr>
          <a:xfrm>
            <a:off x="7680960" y="374904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7680960" y="3749040"/>
            <a:ext cx="822960" cy="82296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371600"/>
            <a:ext cx="8046720" cy="100584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548640" y="2468880"/>
            <a:ext cx="8046720" cy="457200"/>
          </a:xfrm>
          <a:prstGeom prst="rect">
            <a:avLst/>
          </a:prstGeom>
          <a:noFill/>
          <a:ln/>
        </p:spPr>
        <p:txBody>
          <a:bodyPr wrap="square" lIns="0" tIns="0" rIns="0" bIns="0" rtlCol="0" anchor="ctr"/>
          <a:lstStyle/>
          <a:p>
            <a:pPr indent="0" marL="0">
              <a:buNone/>
            </a:pPr>
            <a:r>
              <a:rPr lang="en-US" sz="2200" dirty="0">
                <a:solidFill>
                  <a:schemeClr val="accent1"/>
                </a:solidFill>
              </a:rPr>
              <a:t>Questions and discussion</a:t>
            </a:r>
            <a:endParaRPr lang="en-US" sz="2200" dirty="0"/>
          </a:p>
        </p:txBody>
      </p:sp>
      <p:sp>
        <p:nvSpPr>
          <p:cNvPr id="4" name="Text 2"/>
          <p:cNvSpPr txBox="1"/>
          <p:nvPr/>
        </p:nvSpPr>
        <p:spPr>
          <a:xfrm>
            <a:off x="548640" y="3200400"/>
            <a:ext cx="8046720" cy="365760"/>
          </a:xfrm>
          <a:prstGeom prst="rect">
            <a:avLst/>
          </a:prstGeom>
          <a:noFill/>
          <a:ln/>
        </p:spPr>
        <p:txBody>
          <a:bodyPr wrap="square" lIns="0" tIns="0" rIns="0" bIns="0" rtlCol="0" anchor="ctr"/>
          <a:lstStyle/>
          <a:p>
            <a:pPr indent="0" marL="0">
              <a:buNone/>
            </a:pPr>
            <a:r>
              <a:rPr lang="en-US" sz="1600" dirty="0">
                <a:solidFill>
                  <a:schemeClr val="bg2"/>
                </a:solidFill>
              </a:rPr>
              <a:t>Lamiaa Samraoui, Project Manager</a:t>
            </a:r>
            <a:endParaRPr lang="en-US" sz="1600" dirty="0"/>
          </a:p>
        </p:txBody>
      </p:sp>
      <p:sp>
        <p:nvSpPr>
          <p:cNvPr id="5" name="Text 3"/>
          <p:cNvSpPr txBox="1"/>
          <p:nvPr/>
        </p:nvSpPr>
        <p:spPr>
          <a:xfrm>
            <a:off x="548640" y="3657600"/>
            <a:ext cx="8046720" cy="365760"/>
          </a:xfrm>
          <a:prstGeom prst="rect">
            <a:avLst/>
          </a:prstGeom>
          <a:noFill/>
          <a:ln/>
        </p:spPr>
        <p:txBody>
          <a:bodyPr wrap="square" lIns="0" tIns="0" rIns="0" bIns="0" rtlCol="0" anchor="ctr"/>
          <a:lstStyle/>
          <a:p>
            <a:pPr indent="0" marL="0">
              <a:buNone/>
            </a:pPr>
            <a:r>
              <a:rPr lang="en-US" sz="1600" dirty="0">
                <a:solidFill>
                  <a:schemeClr val="bg2"/>
                </a:solidFill>
              </a:rPr>
              <a:t>GitHub: [Insert GitHub URL] | LinkedIn: [Insert LinkedIn URL]</a:t>
            </a:r>
            <a:endParaRPr lang="en-US" sz="1600" dirty="0"/>
          </a:p>
        </p:txBody>
      </p:sp>
    </p:spTree>
  </p:cSld>
  <p:clrMapOvr>
    <a:masterClrMapping/>
  </p:clrMapOvr>
</p:sld>
</file>

<file path=ppt/theme/theme1.xml><?xml version="1.0" encoding="utf-8"?>
<a:theme xmlns:a="http://schemas.openxmlformats.org/drawingml/2006/main" name="SwiftLog Logistics">
  <a:themeElements>
    <a:clrScheme name="SwiftLog Logistics">
      <a:dk1>
        <a:srgbClr val="14213D"/>
      </a:dk1>
      <a:lt1>
        <a:srgbClr val="FFFFFF"/>
      </a:lt1>
      <a:dk2>
        <a:srgbClr val="1F3A5F"/>
      </a:dk2>
      <a:lt2>
        <a:srgbClr val="EEF2F7"/>
      </a:lt2>
      <a:accent1>
        <a:srgbClr val="F2A541"/>
      </a:accent1>
      <a:accent2>
        <a:srgbClr val="1F3A5F"/>
      </a:accent2>
      <a:accent3>
        <a:srgbClr val="C8553D"/>
      </a:accent3>
      <a:accent4>
        <a:srgbClr val="3A8F6B"/>
      </a:accent4>
      <a:accent5>
        <a:srgbClr val="5B7FA6"/>
      </a:accent5>
      <a:accent6>
        <a:srgbClr val="8A94A6"/>
      </a:accent6>
      <a:hlink>
        <a:srgbClr val="1F3A5F"/>
      </a:hlink>
      <a:folHlink>
        <a:srgbClr val="5B7FA6"/>
      </a:folHlink>
    </a:clrScheme>
    <a:fontScheme name="SwiftLog Logis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SwiftLog PM Presentation</dc:title>
  <dc:subject>PptxGenJS Presentation</dc:subject>
  <dc:creator>Lamiaa Samraoui</dc:creator>
  <cp:lastModifiedBy>Lamiaa Samraoui</cp:lastModifiedBy>
  <cp:revision>1</cp:revision>
  <dcterms:created xsi:type="dcterms:W3CDTF">2026-10-18T17:53:21Z</dcterms:created>
  <dcterms:modified xsi:type="dcterms:W3CDTF">2026-10-18T17:53:21Z</dcterms:modified>
</cp:coreProperties>
</file>